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Poppins" panose="00000500000000000000" pitchFamily="2" charset="0"/>
      <p:regular r:id="rId15"/>
    </p:embeddedFont>
    <p:embeddedFont>
      <p:font typeface="Poppins Bold" panose="020B0604020202020204" charset="0"/>
      <p:regular r:id="rId16"/>
    </p:embeddedFont>
    <p:embeddedFont>
      <p:font typeface="Poppins Light" panose="00000400000000000000"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hyperlink" Target="https://www.flipkart.com" TargetMode="Externa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6.sv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24.png"/><Relationship Id="rId2"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4.svg"/><Relationship Id="rId4" Type="http://schemas.openxmlformats.org/officeDocument/2006/relationships/image" Target="../media/image23.sv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0.svg"/><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7563" y="2845862"/>
            <a:ext cx="5910848" cy="5040341"/>
          </a:xfrm>
          <a:custGeom>
            <a:avLst/>
            <a:gdLst/>
            <a:ahLst/>
            <a:cxnLst/>
            <a:rect l="l" t="t" r="r" b="b"/>
            <a:pathLst>
              <a:path w="5910848" h="5040341">
                <a:moveTo>
                  <a:pt x="0" y="0"/>
                </a:moveTo>
                <a:lnTo>
                  <a:pt x="5910848" y="0"/>
                </a:lnTo>
                <a:lnTo>
                  <a:pt x="5910848" y="5040341"/>
                </a:lnTo>
                <a:lnTo>
                  <a:pt x="0" y="50403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8449669" y="3365783"/>
            <a:ext cx="5721087" cy="2000250"/>
          </a:xfrm>
          <a:prstGeom prst="rect">
            <a:avLst/>
          </a:prstGeom>
        </p:spPr>
        <p:txBody>
          <a:bodyPr lIns="0" tIns="0" rIns="0" bIns="0" rtlCol="0" anchor="t">
            <a:spAutoFit/>
          </a:bodyPr>
          <a:lstStyle/>
          <a:p>
            <a:pPr algn="l">
              <a:lnSpc>
                <a:spcPts val="7679"/>
              </a:lnSpc>
            </a:pPr>
            <a:r>
              <a:rPr lang="en-US" sz="6399" b="1">
                <a:solidFill>
                  <a:srgbClr val="1C1C1C"/>
                </a:solidFill>
                <a:latin typeface="Poppins Bold"/>
                <a:ea typeface="Poppins Bold"/>
                <a:cs typeface="Poppins Bold"/>
                <a:sym typeface="Poppins Bold"/>
              </a:rPr>
              <a:t>Flipkart CSAT Analysis</a:t>
            </a:r>
          </a:p>
        </p:txBody>
      </p:sp>
      <p:sp>
        <p:nvSpPr>
          <p:cNvPr id="4" name="Freeform 4"/>
          <p:cNvSpPr/>
          <p:nvPr/>
        </p:nvSpPr>
        <p:spPr>
          <a:xfrm rot="-5400000">
            <a:off x="14305380" y="6786261"/>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flipH="1">
            <a:off x="13353698" y="912596"/>
            <a:ext cx="3905602" cy="3905602"/>
          </a:xfrm>
          <a:custGeom>
            <a:avLst/>
            <a:gdLst/>
            <a:ahLst/>
            <a:cxnLst/>
            <a:rect l="l" t="t" r="r" b="b"/>
            <a:pathLst>
              <a:path w="3905602" h="3905602">
                <a:moveTo>
                  <a:pt x="3905602" y="0"/>
                </a:moveTo>
                <a:lnTo>
                  <a:pt x="0" y="0"/>
                </a:lnTo>
                <a:lnTo>
                  <a:pt x="0" y="3905602"/>
                </a:lnTo>
                <a:lnTo>
                  <a:pt x="3905602" y="3905602"/>
                </a:lnTo>
                <a:lnTo>
                  <a:pt x="390560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flipV="1">
            <a:off x="12088199" y="-2009082"/>
            <a:ext cx="3905602" cy="3905602"/>
          </a:xfrm>
          <a:custGeom>
            <a:avLst/>
            <a:gdLst/>
            <a:ahLst/>
            <a:cxnLst/>
            <a:rect l="l" t="t" r="r" b="b"/>
            <a:pathLst>
              <a:path w="3905602" h="3905602">
                <a:moveTo>
                  <a:pt x="0" y="3905602"/>
                </a:moveTo>
                <a:lnTo>
                  <a:pt x="3905601" y="3905602"/>
                </a:lnTo>
                <a:lnTo>
                  <a:pt x="3905601" y="0"/>
                </a:lnTo>
                <a:lnTo>
                  <a:pt x="0" y="0"/>
                </a:lnTo>
                <a:lnTo>
                  <a:pt x="0" y="390560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rot="-5400000">
            <a:off x="14305380" y="8765371"/>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701560">
            <a:off x="185470" y="9258300"/>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TextBox 9"/>
          <p:cNvSpPr txBox="1"/>
          <p:nvPr/>
        </p:nvSpPr>
        <p:spPr>
          <a:xfrm>
            <a:off x="8449669" y="5644699"/>
            <a:ext cx="7277059" cy="2667000"/>
          </a:xfrm>
          <a:prstGeom prst="rect">
            <a:avLst/>
          </a:prstGeom>
        </p:spPr>
        <p:txBody>
          <a:bodyPr lIns="0" tIns="0" rIns="0" bIns="0" rtlCol="0" anchor="t">
            <a:spAutoFit/>
          </a:bodyPr>
          <a:lstStyle/>
          <a:p>
            <a:pPr algn="l">
              <a:lnSpc>
                <a:spcPts val="3599"/>
              </a:lnSpc>
            </a:pPr>
            <a:r>
              <a:rPr lang="en-US" sz="1999" b="1" u="sng" dirty="0">
                <a:solidFill>
                  <a:srgbClr val="545454"/>
                </a:solidFill>
                <a:latin typeface="Poppins Bold"/>
                <a:ea typeface="Poppins Bold"/>
                <a:cs typeface="Poppins Bold"/>
                <a:sym typeface="Poppins Bold"/>
                <a:hlinkClick r:id="rId6" tooltip="https://www.flipkart.com"/>
              </a:rPr>
              <a:t>Flipka</a:t>
            </a:r>
            <a:r>
              <a:rPr lang="en-US" sz="1999" b="1" u="sng" dirty="0">
                <a:solidFill>
                  <a:srgbClr val="545454"/>
                </a:solidFill>
                <a:latin typeface="Poppins Bold"/>
                <a:ea typeface="Poppins Bold"/>
                <a:cs typeface="Poppins Bold"/>
                <a:sym typeface="Poppins Bold"/>
                <a:hlinkClick r:id="rId6" tooltip="https://www.flipkart.com"/>
              </a:rPr>
              <a:t>rt</a:t>
            </a:r>
            <a:r>
              <a:rPr lang="en-US" sz="1999" b="1" dirty="0">
                <a:solidFill>
                  <a:srgbClr val="545454"/>
                </a:solidFill>
                <a:latin typeface="Poppins Bold"/>
                <a:ea typeface="Poppins Bold"/>
                <a:cs typeface="Poppins Bold"/>
                <a:sym typeface="Poppins Bold"/>
              </a:rPr>
              <a:t> is one of India’s leading e-commerce platforms, offering a wide range of products, including electronics, fashion, home goods and more. As a major player in the online retail space, Flipkart strives to provide exceptional customer service to maintain its competitive edge and ensure customer satisfaction.</a:t>
            </a:r>
          </a:p>
        </p:txBody>
      </p:sp>
      <p:sp>
        <p:nvSpPr>
          <p:cNvPr id="10" name="Freeform 10"/>
          <p:cNvSpPr/>
          <p:nvPr/>
        </p:nvSpPr>
        <p:spPr>
          <a:xfrm rot="-2250332">
            <a:off x="9645278" y="231868"/>
            <a:ext cx="1322093" cy="1594629"/>
          </a:xfrm>
          <a:custGeom>
            <a:avLst/>
            <a:gdLst/>
            <a:ahLst/>
            <a:cxnLst/>
            <a:rect l="l" t="t" r="r" b="b"/>
            <a:pathLst>
              <a:path w="1322093" h="1594629">
                <a:moveTo>
                  <a:pt x="0" y="0"/>
                </a:moveTo>
                <a:lnTo>
                  <a:pt x="1322093" y="0"/>
                </a:lnTo>
                <a:lnTo>
                  <a:pt x="1322093" y="1594630"/>
                </a:lnTo>
                <a:lnTo>
                  <a:pt x="0" y="159463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rot="701560">
            <a:off x="14188868" y="8028127"/>
            <a:ext cx="1322093" cy="1594629"/>
          </a:xfrm>
          <a:custGeom>
            <a:avLst/>
            <a:gdLst/>
            <a:ahLst/>
            <a:cxnLst/>
            <a:rect l="l" t="t" r="r" b="b"/>
            <a:pathLst>
              <a:path w="1322093" h="1594629">
                <a:moveTo>
                  <a:pt x="0" y="0"/>
                </a:moveTo>
                <a:lnTo>
                  <a:pt x="1322092" y="0"/>
                </a:lnTo>
                <a:lnTo>
                  <a:pt x="1322092" y="1594630"/>
                </a:lnTo>
                <a:lnTo>
                  <a:pt x="0" y="159463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2" name="Freeform 12"/>
          <p:cNvSpPr/>
          <p:nvPr/>
        </p:nvSpPr>
        <p:spPr>
          <a:xfrm rot="-2989715">
            <a:off x="7897305" y="8261922"/>
            <a:ext cx="678752" cy="818670"/>
          </a:xfrm>
          <a:custGeom>
            <a:avLst/>
            <a:gdLst/>
            <a:ahLst/>
            <a:cxnLst/>
            <a:rect l="l" t="t" r="r" b="b"/>
            <a:pathLst>
              <a:path w="678752" h="818670">
                <a:moveTo>
                  <a:pt x="0" y="0"/>
                </a:moveTo>
                <a:lnTo>
                  <a:pt x="678752" y="0"/>
                </a:lnTo>
                <a:lnTo>
                  <a:pt x="678752" y="818670"/>
                </a:lnTo>
                <a:lnTo>
                  <a:pt x="0" y="81867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rot="2279228">
            <a:off x="5038219" y="1122199"/>
            <a:ext cx="654118" cy="788958"/>
          </a:xfrm>
          <a:custGeom>
            <a:avLst/>
            <a:gdLst/>
            <a:ahLst/>
            <a:cxnLst/>
            <a:rect l="l" t="t" r="r" b="b"/>
            <a:pathLst>
              <a:path w="654118" h="788958">
                <a:moveTo>
                  <a:pt x="0" y="0"/>
                </a:moveTo>
                <a:lnTo>
                  <a:pt x="654118" y="0"/>
                </a:lnTo>
                <a:lnTo>
                  <a:pt x="654118" y="788959"/>
                </a:lnTo>
                <a:lnTo>
                  <a:pt x="0" y="788959"/>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9231046" y="7516849"/>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H="1">
            <a:off x="8279364" y="1643185"/>
            <a:ext cx="3905602" cy="3905602"/>
          </a:xfrm>
          <a:custGeom>
            <a:avLst/>
            <a:gdLst/>
            <a:ahLst/>
            <a:cxnLst/>
            <a:rect l="l" t="t" r="r" b="b"/>
            <a:pathLst>
              <a:path w="3905602" h="3905602">
                <a:moveTo>
                  <a:pt x="3905602" y="0"/>
                </a:moveTo>
                <a:lnTo>
                  <a:pt x="0" y="0"/>
                </a:lnTo>
                <a:lnTo>
                  <a:pt x="0" y="3905601"/>
                </a:lnTo>
                <a:lnTo>
                  <a:pt x="3905602" y="3905601"/>
                </a:lnTo>
                <a:lnTo>
                  <a:pt x="390560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V="1">
            <a:off x="7013865" y="-1278493"/>
            <a:ext cx="3905602" cy="3905602"/>
          </a:xfrm>
          <a:custGeom>
            <a:avLst/>
            <a:gdLst/>
            <a:ahLst/>
            <a:cxnLst/>
            <a:rect l="l" t="t" r="r" b="b"/>
            <a:pathLst>
              <a:path w="3905602" h="3905602">
                <a:moveTo>
                  <a:pt x="0" y="3905601"/>
                </a:moveTo>
                <a:lnTo>
                  <a:pt x="3905601" y="3905601"/>
                </a:lnTo>
                <a:lnTo>
                  <a:pt x="3905601" y="0"/>
                </a:lnTo>
                <a:lnTo>
                  <a:pt x="0" y="0"/>
                </a:lnTo>
                <a:lnTo>
                  <a:pt x="0" y="3905601"/>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028700" y="6003608"/>
            <a:ext cx="3242857" cy="3254693"/>
          </a:xfrm>
          <a:custGeom>
            <a:avLst/>
            <a:gdLst/>
            <a:ahLst/>
            <a:cxnLst/>
            <a:rect l="l" t="t" r="r" b="b"/>
            <a:pathLst>
              <a:path w="3242857" h="3254693">
                <a:moveTo>
                  <a:pt x="0" y="0"/>
                </a:moveTo>
                <a:lnTo>
                  <a:pt x="3242857" y="0"/>
                </a:lnTo>
                <a:lnTo>
                  <a:pt x="3242857" y="3254692"/>
                </a:lnTo>
                <a:lnTo>
                  <a:pt x="0" y="32546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1028700" y="990600"/>
            <a:ext cx="5579398" cy="1428750"/>
          </a:xfrm>
          <a:prstGeom prst="rect">
            <a:avLst/>
          </a:prstGeom>
        </p:spPr>
        <p:txBody>
          <a:bodyPr lIns="0" tIns="0" rIns="0" bIns="0" rtlCol="0" anchor="t">
            <a:spAutoFit/>
          </a:bodyPr>
          <a:lstStyle/>
          <a:p>
            <a:pPr algn="l">
              <a:lnSpc>
                <a:spcPts val="5520"/>
              </a:lnSpc>
            </a:pPr>
            <a:r>
              <a:rPr lang="en-US" sz="4600" b="1">
                <a:solidFill>
                  <a:srgbClr val="1C1C1C"/>
                </a:solidFill>
                <a:latin typeface="Poppins Bold"/>
                <a:ea typeface="Poppins Bold"/>
                <a:cs typeface="Poppins Bold"/>
                <a:sym typeface="Poppins Bold"/>
              </a:rPr>
              <a:t>Business problem, objective and goal</a:t>
            </a:r>
          </a:p>
        </p:txBody>
      </p:sp>
      <p:sp>
        <p:nvSpPr>
          <p:cNvPr id="7" name="TextBox 7"/>
          <p:cNvSpPr txBox="1"/>
          <p:nvPr/>
        </p:nvSpPr>
        <p:spPr>
          <a:xfrm>
            <a:off x="5579515" y="7174230"/>
            <a:ext cx="2868699"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Objective</a:t>
            </a:r>
          </a:p>
        </p:txBody>
      </p:sp>
      <p:sp>
        <p:nvSpPr>
          <p:cNvPr id="8" name="TextBox 8"/>
          <p:cNvSpPr txBox="1"/>
          <p:nvPr/>
        </p:nvSpPr>
        <p:spPr>
          <a:xfrm>
            <a:off x="5747329" y="7711519"/>
            <a:ext cx="4174698" cy="2575481"/>
          </a:xfrm>
          <a:prstGeom prst="rect">
            <a:avLst/>
          </a:prstGeom>
        </p:spPr>
        <p:txBody>
          <a:bodyPr lIns="0" tIns="0" rIns="0" bIns="0" rtlCol="0" anchor="t">
            <a:spAutoFit/>
          </a:bodyPr>
          <a:lstStyle/>
          <a:p>
            <a:pPr algn="l">
              <a:lnSpc>
                <a:spcPts val="3483"/>
              </a:lnSpc>
            </a:pPr>
            <a:r>
              <a:rPr lang="en-US" sz="1935">
                <a:solidFill>
                  <a:srgbClr val="545454"/>
                </a:solidFill>
                <a:latin typeface="Poppins Light"/>
                <a:ea typeface="Poppins Light"/>
                <a:cs typeface="Poppins Light"/>
                <a:sym typeface="Poppins Light"/>
              </a:rPr>
              <a:t>The objective of this project is to analyze customer call data to evaluate service performance and identify issues impacting customer satisfaction and retention.</a:t>
            </a:r>
          </a:p>
        </p:txBody>
      </p:sp>
      <p:sp>
        <p:nvSpPr>
          <p:cNvPr id="9" name="TextBox 9"/>
          <p:cNvSpPr txBox="1"/>
          <p:nvPr/>
        </p:nvSpPr>
        <p:spPr>
          <a:xfrm>
            <a:off x="5747329" y="3276600"/>
            <a:ext cx="2868699"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Business Problem</a:t>
            </a:r>
          </a:p>
        </p:txBody>
      </p:sp>
      <p:sp>
        <p:nvSpPr>
          <p:cNvPr id="10" name="TextBox 10"/>
          <p:cNvSpPr txBox="1"/>
          <p:nvPr/>
        </p:nvSpPr>
        <p:spPr>
          <a:xfrm>
            <a:off x="5480629" y="3638695"/>
            <a:ext cx="5037600" cy="3353813"/>
          </a:xfrm>
          <a:prstGeom prst="rect">
            <a:avLst/>
          </a:prstGeom>
        </p:spPr>
        <p:txBody>
          <a:bodyPr lIns="0" tIns="0" rIns="0" bIns="0" rtlCol="0" anchor="t">
            <a:spAutoFit/>
          </a:bodyPr>
          <a:lstStyle/>
          <a:p>
            <a:pPr algn="l">
              <a:lnSpc>
                <a:spcPts val="3396"/>
              </a:lnSpc>
            </a:pPr>
            <a:r>
              <a:rPr lang="en-US" sz="1886">
                <a:solidFill>
                  <a:srgbClr val="545454"/>
                </a:solidFill>
                <a:latin typeface="Poppins"/>
                <a:ea typeface="Poppins"/>
                <a:cs typeface="Poppins"/>
                <a:sym typeface="Poppins"/>
              </a:rPr>
              <a:t>Flipkart has recently seen a drop in customer retention. To tackle this, the company is analyzing its customer service operations to identify issues affecting customer experience, as strong service is key to retaining customers and building loyalty</a:t>
            </a:r>
            <a:r>
              <a:rPr lang="en-US" sz="1886" b="1">
                <a:solidFill>
                  <a:srgbClr val="545454"/>
                </a:solidFill>
                <a:latin typeface="Poppins Bold"/>
                <a:ea typeface="Poppins Bold"/>
                <a:cs typeface="Poppins Bold"/>
                <a:sym typeface="Poppins Bold"/>
              </a:rPr>
              <a:t>.</a:t>
            </a:r>
          </a:p>
          <a:p>
            <a:pPr algn="l">
              <a:lnSpc>
                <a:spcPts val="2856"/>
              </a:lnSpc>
            </a:pPr>
            <a:endParaRPr lang="en-US" sz="1886" b="1">
              <a:solidFill>
                <a:srgbClr val="545454"/>
              </a:solidFill>
              <a:latin typeface="Poppins Bold"/>
              <a:ea typeface="Poppins Bold"/>
              <a:cs typeface="Poppins Bold"/>
              <a:sym typeface="Poppins Bold"/>
            </a:endParaRPr>
          </a:p>
        </p:txBody>
      </p:sp>
      <p:sp>
        <p:nvSpPr>
          <p:cNvPr id="11" name="TextBox 11"/>
          <p:cNvSpPr txBox="1"/>
          <p:nvPr/>
        </p:nvSpPr>
        <p:spPr>
          <a:xfrm>
            <a:off x="13269265" y="1624135"/>
            <a:ext cx="2868699" cy="381000"/>
          </a:xfrm>
          <a:prstGeom prst="rect">
            <a:avLst/>
          </a:prstGeom>
        </p:spPr>
        <p:txBody>
          <a:bodyPr lIns="0" tIns="0" rIns="0" bIns="0" rtlCol="0" anchor="t">
            <a:spAutoFit/>
          </a:bodyPr>
          <a:lstStyle/>
          <a:p>
            <a:pPr algn="l">
              <a:lnSpc>
                <a:spcPts val="2879"/>
              </a:lnSpc>
            </a:pPr>
            <a:r>
              <a:rPr lang="en-US" sz="2399" b="1">
                <a:solidFill>
                  <a:srgbClr val="414141"/>
                </a:solidFill>
                <a:latin typeface="Poppins Bold"/>
                <a:ea typeface="Poppins Bold"/>
                <a:cs typeface="Poppins Bold"/>
                <a:sym typeface="Poppins Bold"/>
              </a:rPr>
              <a:t>Goal</a:t>
            </a:r>
          </a:p>
        </p:txBody>
      </p:sp>
      <p:sp>
        <p:nvSpPr>
          <p:cNvPr id="12" name="TextBox 12"/>
          <p:cNvSpPr txBox="1"/>
          <p:nvPr/>
        </p:nvSpPr>
        <p:spPr>
          <a:xfrm>
            <a:off x="13171890" y="2163425"/>
            <a:ext cx="4314318" cy="2731771"/>
          </a:xfrm>
          <a:prstGeom prst="rect">
            <a:avLst/>
          </a:prstGeom>
        </p:spPr>
        <p:txBody>
          <a:bodyPr lIns="0" tIns="0" rIns="0" bIns="0" rtlCol="0" anchor="t">
            <a:spAutoFit/>
          </a:bodyPr>
          <a:lstStyle/>
          <a:p>
            <a:pPr algn="l">
              <a:lnSpc>
                <a:spcPts val="3599"/>
              </a:lnSpc>
            </a:pPr>
            <a:r>
              <a:rPr lang="en-US" sz="1999">
                <a:solidFill>
                  <a:srgbClr val="545454"/>
                </a:solidFill>
                <a:latin typeface="Poppins Light"/>
                <a:ea typeface="Poppins Light"/>
                <a:cs typeface="Poppins Light"/>
                <a:sym typeface="Poppins Light"/>
              </a:rPr>
              <a:t>The goal of this project is to analyze Flipkart’s customer service data to identify insights and areas of improvement that can enhance customer retention.</a:t>
            </a:r>
          </a:p>
          <a:p>
            <a:pPr algn="l">
              <a:lnSpc>
                <a:spcPts val="4139"/>
              </a:lnSpc>
            </a:pPr>
            <a:endParaRPr lang="en-US" sz="1999">
              <a:solidFill>
                <a:srgbClr val="545454"/>
              </a:solidFill>
              <a:latin typeface="Poppins Light"/>
              <a:ea typeface="Poppins Light"/>
              <a:cs typeface="Poppins Light"/>
              <a:sym typeface="Poppins Light"/>
            </a:endParaRPr>
          </a:p>
        </p:txBody>
      </p:sp>
      <p:sp>
        <p:nvSpPr>
          <p:cNvPr id="13" name="TextBox 13"/>
          <p:cNvSpPr txBox="1"/>
          <p:nvPr/>
        </p:nvSpPr>
        <p:spPr>
          <a:xfrm>
            <a:off x="13494806" y="5311140"/>
            <a:ext cx="2868699"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Project Structure</a:t>
            </a:r>
          </a:p>
        </p:txBody>
      </p:sp>
      <p:sp>
        <p:nvSpPr>
          <p:cNvPr id="14" name="TextBox 14"/>
          <p:cNvSpPr txBox="1"/>
          <p:nvPr/>
        </p:nvSpPr>
        <p:spPr>
          <a:xfrm>
            <a:off x="13269265" y="5860733"/>
            <a:ext cx="4314318" cy="2451736"/>
          </a:xfrm>
          <a:prstGeom prst="rect">
            <a:avLst/>
          </a:prstGeom>
        </p:spPr>
        <p:txBody>
          <a:bodyPr lIns="0" tIns="0" rIns="0" bIns="0" rtlCol="0" anchor="t">
            <a:spAutoFit/>
          </a:bodyPr>
          <a:lstStyle/>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Understanding the Business Context and Define Metrics</a:t>
            </a:r>
          </a:p>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Exploratory Data Analysis (EDA)</a:t>
            </a:r>
          </a:p>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Build Dashboard</a:t>
            </a:r>
          </a:p>
        </p:txBody>
      </p:sp>
      <p:sp>
        <p:nvSpPr>
          <p:cNvPr id="15" name="Freeform 15"/>
          <p:cNvSpPr/>
          <p:nvPr/>
        </p:nvSpPr>
        <p:spPr>
          <a:xfrm>
            <a:off x="5035580" y="3237075"/>
            <a:ext cx="445049" cy="717821"/>
          </a:xfrm>
          <a:custGeom>
            <a:avLst/>
            <a:gdLst/>
            <a:ahLst/>
            <a:cxnLst/>
            <a:rect l="l" t="t" r="r" b="b"/>
            <a:pathLst>
              <a:path w="445049" h="717821">
                <a:moveTo>
                  <a:pt x="0" y="0"/>
                </a:moveTo>
                <a:lnTo>
                  <a:pt x="445049" y="0"/>
                </a:lnTo>
                <a:lnTo>
                  <a:pt x="445049" y="717821"/>
                </a:lnTo>
                <a:lnTo>
                  <a:pt x="0" y="7178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6" name="Freeform 16"/>
          <p:cNvSpPr/>
          <p:nvPr/>
        </p:nvSpPr>
        <p:spPr>
          <a:xfrm>
            <a:off x="5035580" y="6992508"/>
            <a:ext cx="445049" cy="717821"/>
          </a:xfrm>
          <a:custGeom>
            <a:avLst/>
            <a:gdLst/>
            <a:ahLst/>
            <a:cxnLst/>
            <a:rect l="l" t="t" r="r" b="b"/>
            <a:pathLst>
              <a:path w="445049" h="717821">
                <a:moveTo>
                  <a:pt x="0" y="0"/>
                </a:moveTo>
                <a:lnTo>
                  <a:pt x="445049" y="0"/>
                </a:lnTo>
                <a:lnTo>
                  <a:pt x="445049" y="717821"/>
                </a:lnTo>
                <a:lnTo>
                  <a:pt x="0" y="7178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7" name="Freeform 17"/>
          <p:cNvSpPr/>
          <p:nvPr/>
        </p:nvSpPr>
        <p:spPr>
          <a:xfrm>
            <a:off x="12573116" y="1643185"/>
            <a:ext cx="445049" cy="717821"/>
          </a:xfrm>
          <a:custGeom>
            <a:avLst/>
            <a:gdLst/>
            <a:ahLst/>
            <a:cxnLst/>
            <a:rect l="l" t="t" r="r" b="b"/>
            <a:pathLst>
              <a:path w="445049" h="717821">
                <a:moveTo>
                  <a:pt x="0" y="0"/>
                </a:moveTo>
                <a:lnTo>
                  <a:pt x="445049" y="0"/>
                </a:lnTo>
                <a:lnTo>
                  <a:pt x="445049" y="717821"/>
                </a:lnTo>
                <a:lnTo>
                  <a:pt x="0" y="7178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8" name="Freeform 18"/>
          <p:cNvSpPr/>
          <p:nvPr/>
        </p:nvSpPr>
        <p:spPr>
          <a:xfrm>
            <a:off x="12624190" y="5319712"/>
            <a:ext cx="445049" cy="717821"/>
          </a:xfrm>
          <a:custGeom>
            <a:avLst/>
            <a:gdLst/>
            <a:ahLst/>
            <a:cxnLst/>
            <a:rect l="l" t="t" r="r" b="b"/>
            <a:pathLst>
              <a:path w="445049" h="717821">
                <a:moveTo>
                  <a:pt x="0" y="0"/>
                </a:moveTo>
                <a:lnTo>
                  <a:pt x="445050" y="0"/>
                </a:lnTo>
                <a:lnTo>
                  <a:pt x="445050" y="717822"/>
                </a:lnTo>
                <a:lnTo>
                  <a:pt x="0" y="7178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9" name="Freeform 19"/>
          <p:cNvSpPr/>
          <p:nvPr/>
        </p:nvSpPr>
        <p:spPr>
          <a:xfrm rot="701560">
            <a:off x="185470" y="9258300"/>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0" name="Freeform 20"/>
          <p:cNvSpPr/>
          <p:nvPr/>
        </p:nvSpPr>
        <p:spPr>
          <a:xfrm rot="-2250332">
            <a:off x="10833331" y="417774"/>
            <a:ext cx="423332" cy="510598"/>
          </a:xfrm>
          <a:custGeom>
            <a:avLst/>
            <a:gdLst/>
            <a:ahLst/>
            <a:cxnLst/>
            <a:rect l="l" t="t" r="r" b="b"/>
            <a:pathLst>
              <a:path w="423332" h="510598">
                <a:moveTo>
                  <a:pt x="0" y="0"/>
                </a:moveTo>
                <a:lnTo>
                  <a:pt x="423331" y="0"/>
                </a:lnTo>
                <a:lnTo>
                  <a:pt x="423331" y="510598"/>
                </a:lnTo>
                <a:lnTo>
                  <a:pt x="0" y="510598"/>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1" name="Freeform 21"/>
          <p:cNvSpPr/>
          <p:nvPr/>
        </p:nvSpPr>
        <p:spPr>
          <a:xfrm rot="701560">
            <a:off x="15476917" y="8343562"/>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2" name="Freeform 22"/>
          <p:cNvSpPr/>
          <p:nvPr/>
        </p:nvSpPr>
        <p:spPr>
          <a:xfrm rot="-2989715">
            <a:off x="3673024" y="4343141"/>
            <a:ext cx="678752" cy="818670"/>
          </a:xfrm>
          <a:custGeom>
            <a:avLst/>
            <a:gdLst/>
            <a:ahLst/>
            <a:cxnLst/>
            <a:rect l="l" t="t" r="r" b="b"/>
            <a:pathLst>
              <a:path w="678752" h="818670">
                <a:moveTo>
                  <a:pt x="0" y="0"/>
                </a:moveTo>
                <a:lnTo>
                  <a:pt x="678752" y="0"/>
                </a:lnTo>
                <a:lnTo>
                  <a:pt x="678752" y="818670"/>
                </a:lnTo>
                <a:lnTo>
                  <a:pt x="0" y="818670"/>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61355" y="1398670"/>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4083338" y="1398669"/>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8367326" y="1398670"/>
            <a:ext cx="3905602" cy="3905602"/>
          </a:xfrm>
          <a:custGeom>
            <a:avLst/>
            <a:gdLst/>
            <a:ahLst/>
            <a:cxnLst/>
            <a:rect l="l" t="t" r="r" b="b"/>
            <a:pathLst>
              <a:path w="3905602" h="3905602">
                <a:moveTo>
                  <a:pt x="0" y="0"/>
                </a:moveTo>
                <a:lnTo>
                  <a:pt x="3905602" y="0"/>
                </a:lnTo>
                <a:lnTo>
                  <a:pt x="3905602" y="3905602"/>
                </a:lnTo>
                <a:lnTo>
                  <a:pt x="0" y="39056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9208796" y="4896751"/>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4142691" y="4896751"/>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Freeform 7"/>
          <p:cNvSpPr/>
          <p:nvPr/>
        </p:nvSpPr>
        <p:spPr>
          <a:xfrm>
            <a:off x="1028700" y="3737332"/>
            <a:ext cx="6499858" cy="5767147"/>
          </a:xfrm>
          <a:custGeom>
            <a:avLst/>
            <a:gdLst/>
            <a:ahLst/>
            <a:cxnLst/>
            <a:rect l="l" t="t" r="r" b="b"/>
            <a:pathLst>
              <a:path w="6499858" h="5767147">
                <a:moveTo>
                  <a:pt x="0" y="0"/>
                </a:moveTo>
                <a:lnTo>
                  <a:pt x="6499858" y="0"/>
                </a:lnTo>
                <a:lnTo>
                  <a:pt x="6499858" y="5767148"/>
                </a:lnTo>
                <a:lnTo>
                  <a:pt x="0" y="57671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rot="701560">
            <a:off x="-661046" y="9311622"/>
            <a:ext cx="1322093" cy="1594629"/>
          </a:xfrm>
          <a:custGeom>
            <a:avLst/>
            <a:gdLst/>
            <a:ahLst/>
            <a:cxnLst/>
            <a:rect l="l" t="t" r="r" b="b"/>
            <a:pathLst>
              <a:path w="1322093" h="1594629">
                <a:moveTo>
                  <a:pt x="0" y="0"/>
                </a:moveTo>
                <a:lnTo>
                  <a:pt x="1322092" y="0"/>
                </a:lnTo>
                <a:lnTo>
                  <a:pt x="1322092" y="1594629"/>
                </a:lnTo>
                <a:lnTo>
                  <a:pt x="0" y="1594629"/>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rot="701560">
            <a:off x="17407168" y="9311622"/>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2279228">
            <a:off x="6038827" y="3535328"/>
            <a:ext cx="654118" cy="788958"/>
          </a:xfrm>
          <a:custGeom>
            <a:avLst/>
            <a:gdLst/>
            <a:ahLst/>
            <a:cxnLst/>
            <a:rect l="l" t="t" r="r" b="b"/>
            <a:pathLst>
              <a:path w="654118" h="788958">
                <a:moveTo>
                  <a:pt x="0" y="0"/>
                </a:moveTo>
                <a:lnTo>
                  <a:pt x="654118" y="0"/>
                </a:lnTo>
                <a:lnTo>
                  <a:pt x="654118" y="788958"/>
                </a:lnTo>
                <a:lnTo>
                  <a:pt x="0" y="788958"/>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27566" y="1155256"/>
            <a:ext cx="5837753" cy="1333316"/>
          </a:xfrm>
          <a:prstGeom prst="rect">
            <a:avLst/>
          </a:prstGeom>
        </p:spPr>
        <p:txBody>
          <a:bodyPr lIns="0" tIns="0" rIns="0" bIns="0" rtlCol="0" anchor="t">
            <a:spAutoFit/>
          </a:bodyPr>
          <a:lstStyle/>
          <a:p>
            <a:pPr algn="l">
              <a:lnSpc>
                <a:spcPts val="5125"/>
              </a:lnSpc>
            </a:pPr>
            <a:r>
              <a:rPr lang="en-US" sz="4271" b="1">
                <a:solidFill>
                  <a:srgbClr val="1C1C1C"/>
                </a:solidFill>
                <a:latin typeface="Poppins Bold"/>
                <a:ea typeface="Poppins Bold"/>
                <a:cs typeface="Poppins Bold"/>
                <a:sym typeface="Poppins Bold"/>
              </a:rPr>
              <a:t>User journey on flipkart</a:t>
            </a:r>
          </a:p>
        </p:txBody>
      </p:sp>
      <p:pic>
        <p:nvPicPr>
          <p:cNvPr id="15" name="Picture 14">
            <a:extLst>
              <a:ext uri="{FF2B5EF4-FFF2-40B4-BE49-F238E27FC236}">
                <a16:creationId xmlns:a16="http://schemas.microsoft.com/office/drawing/2014/main" id="{EA7EA40F-B101-AD84-3DE6-84DD5763F9F7}"/>
              </a:ext>
            </a:extLst>
          </p:cNvPr>
          <p:cNvPicPr>
            <a:picLocks noChangeAspect="1"/>
          </p:cNvPicPr>
          <p:nvPr/>
        </p:nvPicPr>
        <p:blipFill>
          <a:blip r:embed="rId6"/>
          <a:stretch>
            <a:fillRect/>
          </a:stretch>
        </p:blipFill>
        <p:spPr>
          <a:xfrm>
            <a:off x="-64795" y="5173643"/>
            <a:ext cx="18288000" cy="5071740"/>
          </a:xfrm>
          <a:prstGeom prst="rect">
            <a:avLst/>
          </a:prstGeom>
        </p:spPr>
      </p:pic>
      <p:sp>
        <p:nvSpPr>
          <p:cNvPr id="16" name="Rectangle: Rounded Corners 15">
            <a:extLst>
              <a:ext uri="{FF2B5EF4-FFF2-40B4-BE49-F238E27FC236}">
                <a16:creationId xmlns:a16="http://schemas.microsoft.com/office/drawing/2014/main" id="{ED0640D6-C8EB-DEC1-A313-0DBE7A180053}"/>
              </a:ext>
            </a:extLst>
          </p:cNvPr>
          <p:cNvSpPr/>
          <p:nvPr/>
        </p:nvSpPr>
        <p:spPr>
          <a:xfrm>
            <a:off x="9753600" y="2857500"/>
            <a:ext cx="8153400" cy="158451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800" dirty="0"/>
              <a:t>https://whimsical.com/pragati-s-workspace587/customer-buying-on-flipkart-UEqBLpWTznPHC7QiP8EGh3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84590" y="6788999"/>
            <a:ext cx="3320512" cy="2922051"/>
          </a:xfrm>
          <a:custGeom>
            <a:avLst/>
            <a:gdLst/>
            <a:ahLst/>
            <a:cxnLst/>
            <a:rect l="l" t="t" r="r" b="b"/>
            <a:pathLst>
              <a:path w="3320512" h="2922051">
                <a:moveTo>
                  <a:pt x="0" y="0"/>
                </a:moveTo>
                <a:lnTo>
                  <a:pt x="3320512" y="0"/>
                </a:lnTo>
                <a:lnTo>
                  <a:pt x="3320512" y="2922051"/>
                </a:lnTo>
                <a:lnTo>
                  <a:pt x="0" y="29220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3087202" y="1202441"/>
            <a:ext cx="484691" cy="681790"/>
          </a:xfrm>
          <a:custGeom>
            <a:avLst/>
            <a:gdLst/>
            <a:ahLst/>
            <a:cxnLst/>
            <a:rect l="l" t="t" r="r" b="b"/>
            <a:pathLst>
              <a:path w="484691" h="681790">
                <a:moveTo>
                  <a:pt x="0" y="0"/>
                </a:moveTo>
                <a:lnTo>
                  <a:pt x="484691" y="0"/>
                </a:lnTo>
                <a:lnTo>
                  <a:pt x="484691" y="681790"/>
                </a:lnTo>
                <a:lnTo>
                  <a:pt x="0" y="68179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313457" y="186261"/>
            <a:ext cx="5579398" cy="1543050"/>
          </a:xfrm>
          <a:prstGeom prst="rect">
            <a:avLst/>
          </a:prstGeom>
        </p:spPr>
        <p:txBody>
          <a:bodyPr lIns="0" tIns="0" rIns="0" bIns="0" rtlCol="0" anchor="t">
            <a:spAutoFit/>
          </a:bodyPr>
          <a:lstStyle/>
          <a:p>
            <a:pPr algn="l">
              <a:lnSpc>
                <a:spcPts val="5999"/>
              </a:lnSpc>
            </a:pPr>
            <a:r>
              <a:rPr lang="en-US" sz="4999" b="1">
                <a:solidFill>
                  <a:srgbClr val="1C1C1C"/>
                </a:solidFill>
                <a:latin typeface="Poppins Bold"/>
                <a:ea typeface="Poppins Bold"/>
                <a:cs typeface="Poppins Bold"/>
                <a:sym typeface="Poppins Bold"/>
              </a:rPr>
              <a:t>Customer Retention</a:t>
            </a:r>
          </a:p>
        </p:txBody>
      </p:sp>
      <p:sp>
        <p:nvSpPr>
          <p:cNvPr id="5" name="Freeform 5"/>
          <p:cNvSpPr/>
          <p:nvPr/>
        </p:nvSpPr>
        <p:spPr>
          <a:xfrm rot="5520254">
            <a:off x="-347589" y="7770505"/>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rot="-2250332">
            <a:off x="7817663" y="359285"/>
            <a:ext cx="1024012" cy="1235103"/>
          </a:xfrm>
          <a:custGeom>
            <a:avLst/>
            <a:gdLst/>
            <a:ahLst/>
            <a:cxnLst/>
            <a:rect l="l" t="t" r="r" b="b"/>
            <a:pathLst>
              <a:path w="1024012" h="1235103">
                <a:moveTo>
                  <a:pt x="0" y="0"/>
                </a:moveTo>
                <a:lnTo>
                  <a:pt x="1024013" y="0"/>
                </a:lnTo>
                <a:lnTo>
                  <a:pt x="1024013" y="1235102"/>
                </a:lnTo>
                <a:lnTo>
                  <a:pt x="0" y="1235102"/>
                </a:lnTo>
                <a:lnTo>
                  <a:pt x="0" y="0"/>
                </a:lnTo>
                <a:close/>
              </a:path>
            </a:pathLst>
          </a:custGeom>
          <a:blipFill>
            <a:blip>
              <a:alphaModFix amt="34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rot="2881562">
            <a:off x="17365726" y="369692"/>
            <a:ext cx="678752" cy="818670"/>
          </a:xfrm>
          <a:custGeom>
            <a:avLst/>
            <a:gdLst/>
            <a:ahLst/>
            <a:cxnLst/>
            <a:rect l="l" t="t" r="r" b="b"/>
            <a:pathLst>
              <a:path w="678752" h="818670">
                <a:moveTo>
                  <a:pt x="0" y="0"/>
                </a:moveTo>
                <a:lnTo>
                  <a:pt x="678752" y="0"/>
                </a:lnTo>
                <a:lnTo>
                  <a:pt x="678752" y="818671"/>
                </a:lnTo>
                <a:lnTo>
                  <a:pt x="0" y="818671"/>
                </a:lnTo>
                <a:lnTo>
                  <a:pt x="0" y="0"/>
                </a:lnTo>
                <a:close/>
              </a:path>
            </a:pathLst>
          </a:custGeom>
          <a:blipFill>
            <a:blip>
              <a:alphaModFix amt="34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rot="2279228">
            <a:off x="2861998" y="5103317"/>
            <a:ext cx="428618" cy="516973"/>
          </a:xfrm>
          <a:custGeom>
            <a:avLst/>
            <a:gdLst/>
            <a:ahLst/>
            <a:cxnLst/>
            <a:rect l="l" t="t" r="r" b="b"/>
            <a:pathLst>
              <a:path w="428618" h="516973">
                <a:moveTo>
                  <a:pt x="0" y="0"/>
                </a:moveTo>
                <a:lnTo>
                  <a:pt x="428618" y="0"/>
                </a:lnTo>
                <a:lnTo>
                  <a:pt x="428618" y="516974"/>
                </a:lnTo>
                <a:lnTo>
                  <a:pt x="0" y="516974"/>
                </a:lnTo>
                <a:lnTo>
                  <a:pt x="0" y="0"/>
                </a:lnTo>
                <a:close/>
              </a:path>
            </a:pathLst>
          </a:custGeom>
          <a:blipFill>
            <a:blip>
              <a:alphaModFix amt="34000"/>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9" name="Picture 8">
            <a:extLst>
              <a:ext uri="{FF2B5EF4-FFF2-40B4-BE49-F238E27FC236}">
                <a16:creationId xmlns:a16="http://schemas.microsoft.com/office/drawing/2014/main" id="{8BD5CA4B-D50D-88D7-2633-970DCBFC5A4D}"/>
              </a:ext>
            </a:extLst>
          </p:cNvPr>
          <p:cNvPicPr>
            <a:picLocks noChangeAspect="1"/>
          </p:cNvPicPr>
          <p:nvPr/>
        </p:nvPicPr>
        <p:blipFill>
          <a:blip r:embed="rId5"/>
          <a:stretch>
            <a:fillRect/>
          </a:stretch>
        </p:blipFill>
        <p:spPr>
          <a:xfrm>
            <a:off x="-1" y="1734754"/>
            <a:ext cx="18293443" cy="5135678"/>
          </a:xfrm>
          <a:prstGeom prst="rect">
            <a:avLst/>
          </a:prstGeom>
        </p:spPr>
      </p:pic>
      <p:sp>
        <p:nvSpPr>
          <p:cNvPr id="10" name="Rectangle: Rounded Corners 9">
            <a:extLst>
              <a:ext uri="{FF2B5EF4-FFF2-40B4-BE49-F238E27FC236}">
                <a16:creationId xmlns:a16="http://schemas.microsoft.com/office/drawing/2014/main" id="{42773F71-44D8-3B66-D616-4FA2E9D36015}"/>
              </a:ext>
            </a:extLst>
          </p:cNvPr>
          <p:cNvSpPr/>
          <p:nvPr/>
        </p:nvSpPr>
        <p:spPr>
          <a:xfrm>
            <a:off x="2286000" y="7305532"/>
            <a:ext cx="9677400" cy="205295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800" b="1" dirty="0"/>
              <a:t>https://whimsical.com/pragati-s-workspace587/customer-retention-M94tJvphtsbKgFKfKmLGne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32905" y="4650571"/>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9864413" y="4650571"/>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0" y="4650571"/>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4798309" y="4650571"/>
            <a:ext cx="4921983" cy="985857"/>
          </a:xfrm>
          <a:custGeom>
            <a:avLst/>
            <a:gdLst/>
            <a:ahLst/>
            <a:cxnLst/>
            <a:rect l="l" t="t" r="r" b="b"/>
            <a:pathLst>
              <a:path w="4921983" h="985857">
                <a:moveTo>
                  <a:pt x="0" y="0"/>
                </a:moveTo>
                <a:lnTo>
                  <a:pt x="4921982" y="0"/>
                </a:lnTo>
                <a:lnTo>
                  <a:pt x="4921982"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4479922" y="1028700"/>
            <a:ext cx="2779378" cy="3015105"/>
          </a:xfrm>
          <a:custGeom>
            <a:avLst/>
            <a:gdLst/>
            <a:ahLst/>
            <a:cxnLst/>
            <a:rect l="l" t="t" r="r" b="b"/>
            <a:pathLst>
              <a:path w="2779378" h="3015105">
                <a:moveTo>
                  <a:pt x="0" y="0"/>
                </a:moveTo>
                <a:lnTo>
                  <a:pt x="2779378" y="0"/>
                </a:lnTo>
                <a:lnTo>
                  <a:pt x="2779378" y="3015105"/>
                </a:lnTo>
                <a:lnTo>
                  <a:pt x="0" y="30151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028700" y="1028700"/>
            <a:ext cx="2932874" cy="3015105"/>
          </a:xfrm>
          <a:custGeom>
            <a:avLst/>
            <a:gdLst/>
            <a:ahLst/>
            <a:cxnLst/>
            <a:rect l="l" t="t" r="r" b="b"/>
            <a:pathLst>
              <a:path w="2932874" h="3015105">
                <a:moveTo>
                  <a:pt x="0" y="0"/>
                </a:moveTo>
                <a:lnTo>
                  <a:pt x="2932874" y="0"/>
                </a:lnTo>
                <a:lnTo>
                  <a:pt x="2932874" y="3015105"/>
                </a:lnTo>
                <a:lnTo>
                  <a:pt x="0" y="30151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a:off x="3415343" y="5090197"/>
            <a:ext cx="1092462" cy="1092462"/>
          </a:xfrm>
          <a:custGeom>
            <a:avLst/>
            <a:gdLst/>
            <a:ahLst/>
            <a:cxnLst/>
            <a:rect l="l" t="t" r="r" b="b"/>
            <a:pathLst>
              <a:path w="1092462" h="1092462">
                <a:moveTo>
                  <a:pt x="0" y="0"/>
                </a:moveTo>
                <a:lnTo>
                  <a:pt x="1092463" y="0"/>
                </a:lnTo>
                <a:lnTo>
                  <a:pt x="1092463" y="1092463"/>
                </a:lnTo>
                <a:lnTo>
                  <a:pt x="0" y="10924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9004825" y="5090197"/>
            <a:ext cx="1092462" cy="1092462"/>
          </a:xfrm>
          <a:custGeom>
            <a:avLst/>
            <a:gdLst/>
            <a:ahLst/>
            <a:cxnLst/>
            <a:rect l="l" t="t" r="r" b="b"/>
            <a:pathLst>
              <a:path w="1092462" h="1092462">
                <a:moveTo>
                  <a:pt x="0" y="0"/>
                </a:moveTo>
                <a:lnTo>
                  <a:pt x="1092462" y="0"/>
                </a:lnTo>
                <a:lnTo>
                  <a:pt x="1092462" y="1092463"/>
                </a:lnTo>
                <a:lnTo>
                  <a:pt x="0" y="10924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TextBox 10"/>
          <p:cNvSpPr txBox="1"/>
          <p:nvPr/>
        </p:nvSpPr>
        <p:spPr>
          <a:xfrm>
            <a:off x="8116706" y="7383690"/>
            <a:ext cx="4314318" cy="1402081"/>
          </a:xfrm>
          <a:prstGeom prst="rect">
            <a:avLst/>
          </a:prstGeom>
        </p:spPr>
        <p:txBody>
          <a:bodyPr lIns="0" tIns="0" rIns="0" bIns="0" rtlCol="0" anchor="t">
            <a:spAutoFit/>
          </a:bodyPr>
          <a:lstStyle/>
          <a:p>
            <a:pPr marL="453388" lvl="1" indent="-226694" algn="l">
              <a:lnSpc>
                <a:spcPts val="3779"/>
              </a:lnSpc>
              <a:buAutoNum type="arabicPeriod"/>
            </a:pPr>
            <a:r>
              <a:rPr lang="en-US" sz="2099">
                <a:solidFill>
                  <a:srgbClr val="545454"/>
                </a:solidFill>
                <a:latin typeface="Poppins Light"/>
                <a:ea typeface="Poppins Light"/>
                <a:cs typeface="Poppins Light"/>
                <a:sym typeface="Poppins Light"/>
              </a:rPr>
              <a:t>Short</a:t>
            </a:r>
          </a:p>
          <a:p>
            <a:pPr marL="453388" lvl="1" indent="-226694" algn="l">
              <a:lnSpc>
                <a:spcPts val="3779"/>
              </a:lnSpc>
              <a:buAutoNum type="arabicPeriod"/>
            </a:pPr>
            <a:r>
              <a:rPr lang="en-US" sz="2099">
                <a:solidFill>
                  <a:srgbClr val="545454"/>
                </a:solidFill>
                <a:latin typeface="Poppins Light"/>
                <a:ea typeface="Poppins Light"/>
                <a:cs typeface="Poppins Light"/>
                <a:sym typeface="Poppins Light"/>
              </a:rPr>
              <a:t>Medium</a:t>
            </a:r>
          </a:p>
          <a:p>
            <a:pPr marL="453388" lvl="1" indent="-226694" algn="l">
              <a:lnSpc>
                <a:spcPts val="3779"/>
              </a:lnSpc>
              <a:buAutoNum type="arabicPeriod"/>
            </a:pPr>
            <a:r>
              <a:rPr lang="en-US" sz="2099">
                <a:solidFill>
                  <a:srgbClr val="545454"/>
                </a:solidFill>
                <a:latin typeface="Poppins Light"/>
                <a:ea typeface="Poppins Light"/>
                <a:cs typeface="Poppins Light"/>
                <a:sym typeface="Poppins Light"/>
              </a:rPr>
              <a:t>Long/Very Long</a:t>
            </a:r>
          </a:p>
        </p:txBody>
      </p:sp>
      <p:sp>
        <p:nvSpPr>
          <p:cNvPr id="11" name="TextBox 11"/>
          <p:cNvSpPr txBox="1"/>
          <p:nvPr/>
        </p:nvSpPr>
        <p:spPr>
          <a:xfrm>
            <a:off x="2537308" y="6688365"/>
            <a:ext cx="2868699" cy="390525"/>
          </a:xfrm>
          <a:prstGeom prst="rect">
            <a:avLst/>
          </a:prstGeom>
        </p:spPr>
        <p:txBody>
          <a:bodyPr lIns="0" tIns="0" rIns="0" bIns="0" rtlCol="0" anchor="t">
            <a:spAutoFit/>
          </a:bodyPr>
          <a:lstStyle/>
          <a:p>
            <a:pPr algn="ctr">
              <a:lnSpc>
                <a:spcPts val="2999"/>
              </a:lnSpc>
            </a:pPr>
            <a:r>
              <a:rPr lang="en-US" sz="2499" b="1">
                <a:solidFill>
                  <a:srgbClr val="414141"/>
                </a:solidFill>
                <a:latin typeface="Poppins Bold"/>
                <a:ea typeface="Poppins Bold"/>
                <a:cs typeface="Poppins Bold"/>
                <a:sym typeface="Poppins Bold"/>
              </a:rPr>
              <a:t>Response Time</a:t>
            </a:r>
          </a:p>
        </p:txBody>
      </p:sp>
      <p:sp>
        <p:nvSpPr>
          <p:cNvPr id="12" name="TextBox 12"/>
          <p:cNvSpPr txBox="1"/>
          <p:nvPr/>
        </p:nvSpPr>
        <p:spPr>
          <a:xfrm>
            <a:off x="8116706" y="6688365"/>
            <a:ext cx="2868699" cy="390525"/>
          </a:xfrm>
          <a:prstGeom prst="rect">
            <a:avLst/>
          </a:prstGeom>
        </p:spPr>
        <p:txBody>
          <a:bodyPr lIns="0" tIns="0" rIns="0" bIns="0" rtlCol="0" anchor="t">
            <a:spAutoFit/>
          </a:bodyPr>
          <a:lstStyle/>
          <a:p>
            <a:pPr algn="ctr">
              <a:lnSpc>
                <a:spcPts val="2999"/>
              </a:lnSpc>
            </a:pPr>
            <a:r>
              <a:rPr lang="en-US" sz="2499" b="1">
                <a:solidFill>
                  <a:srgbClr val="414141"/>
                </a:solidFill>
                <a:latin typeface="Poppins Bold"/>
                <a:ea typeface="Poppins Bold"/>
                <a:cs typeface="Poppins Bold"/>
                <a:sym typeface="Poppins Bold"/>
              </a:rPr>
              <a:t>Call Duration</a:t>
            </a:r>
          </a:p>
        </p:txBody>
      </p:sp>
      <p:sp>
        <p:nvSpPr>
          <p:cNvPr id="13" name="TextBox 13"/>
          <p:cNvSpPr txBox="1"/>
          <p:nvPr/>
        </p:nvSpPr>
        <p:spPr>
          <a:xfrm>
            <a:off x="13466692" y="6688365"/>
            <a:ext cx="2868699" cy="390525"/>
          </a:xfrm>
          <a:prstGeom prst="rect">
            <a:avLst/>
          </a:prstGeom>
        </p:spPr>
        <p:txBody>
          <a:bodyPr lIns="0" tIns="0" rIns="0" bIns="0" rtlCol="0" anchor="t">
            <a:spAutoFit/>
          </a:bodyPr>
          <a:lstStyle/>
          <a:p>
            <a:pPr algn="ctr">
              <a:lnSpc>
                <a:spcPts val="2999"/>
              </a:lnSpc>
            </a:pPr>
            <a:r>
              <a:rPr lang="en-US" sz="2499" b="1">
                <a:solidFill>
                  <a:srgbClr val="414141"/>
                </a:solidFill>
                <a:latin typeface="Poppins Bold"/>
                <a:ea typeface="Poppins Bold"/>
                <a:cs typeface="Poppins Bold"/>
                <a:sym typeface="Poppins Bold"/>
              </a:rPr>
              <a:t>Sentiment</a:t>
            </a:r>
          </a:p>
        </p:txBody>
      </p:sp>
      <p:sp>
        <p:nvSpPr>
          <p:cNvPr id="14" name="TextBox 14"/>
          <p:cNvSpPr txBox="1"/>
          <p:nvPr/>
        </p:nvSpPr>
        <p:spPr>
          <a:xfrm>
            <a:off x="2350646" y="7355115"/>
            <a:ext cx="4314318" cy="1885950"/>
          </a:xfrm>
          <a:prstGeom prst="rect">
            <a:avLst/>
          </a:prstGeom>
        </p:spPr>
        <p:txBody>
          <a:bodyPr lIns="0" tIns="0" rIns="0" bIns="0" rtlCol="0" anchor="t">
            <a:spAutoFit/>
          </a:bodyPr>
          <a:lstStyle/>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Within SLA</a:t>
            </a:r>
          </a:p>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Below SLA</a:t>
            </a:r>
          </a:p>
          <a:p>
            <a:pPr marL="474978" lvl="1" indent="-237489" algn="l">
              <a:lnSpc>
                <a:spcPts val="3959"/>
              </a:lnSpc>
              <a:buAutoNum type="arabicPeriod"/>
            </a:pPr>
            <a:r>
              <a:rPr lang="en-US" sz="2199">
                <a:solidFill>
                  <a:srgbClr val="545454"/>
                </a:solidFill>
                <a:latin typeface="Poppins Light"/>
                <a:ea typeface="Poppins Light"/>
                <a:cs typeface="Poppins Light"/>
                <a:sym typeface="Poppins Light"/>
              </a:rPr>
              <a:t> Above SLA</a:t>
            </a:r>
          </a:p>
          <a:p>
            <a:pPr algn="just">
              <a:lnSpc>
                <a:spcPts val="3240"/>
              </a:lnSpc>
            </a:pPr>
            <a:endParaRPr lang="en-US" sz="2199">
              <a:solidFill>
                <a:srgbClr val="545454"/>
              </a:solidFill>
              <a:latin typeface="Poppins Light"/>
              <a:ea typeface="Poppins Light"/>
              <a:cs typeface="Poppins Light"/>
              <a:sym typeface="Poppins Light"/>
            </a:endParaRPr>
          </a:p>
        </p:txBody>
      </p:sp>
      <p:sp>
        <p:nvSpPr>
          <p:cNvPr id="15" name="TextBox 15"/>
          <p:cNvSpPr txBox="1"/>
          <p:nvPr/>
        </p:nvSpPr>
        <p:spPr>
          <a:xfrm>
            <a:off x="13659371" y="7364640"/>
            <a:ext cx="4101171" cy="2354581"/>
          </a:xfrm>
          <a:prstGeom prst="rect">
            <a:avLst/>
          </a:prstGeom>
        </p:spPr>
        <p:txBody>
          <a:bodyPr lIns="0" tIns="0" rIns="0" bIns="0" rtlCol="0" anchor="t">
            <a:spAutoFit/>
          </a:bodyPr>
          <a:lstStyle/>
          <a:p>
            <a:pPr algn="just">
              <a:lnSpc>
                <a:spcPts val="3779"/>
              </a:lnSpc>
            </a:pPr>
            <a:r>
              <a:rPr lang="en-US" sz="2099">
                <a:solidFill>
                  <a:srgbClr val="545454"/>
                </a:solidFill>
                <a:latin typeface="Poppins Light"/>
                <a:ea typeface="Poppins Light"/>
                <a:cs typeface="Poppins Light"/>
                <a:sym typeface="Poppins Light"/>
              </a:rPr>
              <a:t>1.Very Positive</a:t>
            </a:r>
          </a:p>
          <a:p>
            <a:pPr algn="just">
              <a:lnSpc>
                <a:spcPts val="3779"/>
              </a:lnSpc>
            </a:pPr>
            <a:r>
              <a:rPr lang="en-US" sz="2099">
                <a:solidFill>
                  <a:srgbClr val="545454"/>
                </a:solidFill>
                <a:latin typeface="Poppins Light"/>
                <a:ea typeface="Poppins Light"/>
                <a:cs typeface="Poppins Light"/>
                <a:sym typeface="Poppins Light"/>
              </a:rPr>
              <a:t>2.Positive</a:t>
            </a:r>
          </a:p>
          <a:p>
            <a:pPr algn="just">
              <a:lnSpc>
                <a:spcPts val="3779"/>
              </a:lnSpc>
            </a:pPr>
            <a:r>
              <a:rPr lang="en-US" sz="2099">
                <a:solidFill>
                  <a:srgbClr val="545454"/>
                </a:solidFill>
                <a:latin typeface="Poppins Light"/>
                <a:ea typeface="Poppins Light"/>
                <a:cs typeface="Poppins Light"/>
                <a:sym typeface="Poppins Light"/>
              </a:rPr>
              <a:t>3.Neutral</a:t>
            </a:r>
          </a:p>
          <a:p>
            <a:pPr algn="just">
              <a:lnSpc>
                <a:spcPts val="3779"/>
              </a:lnSpc>
            </a:pPr>
            <a:r>
              <a:rPr lang="en-US" sz="2099">
                <a:solidFill>
                  <a:srgbClr val="545454"/>
                </a:solidFill>
                <a:latin typeface="Poppins Light"/>
                <a:ea typeface="Poppins Light"/>
                <a:cs typeface="Poppins Light"/>
                <a:sym typeface="Poppins Light"/>
              </a:rPr>
              <a:t>4.Negative</a:t>
            </a:r>
          </a:p>
          <a:p>
            <a:pPr algn="just">
              <a:lnSpc>
                <a:spcPts val="3779"/>
              </a:lnSpc>
            </a:pPr>
            <a:r>
              <a:rPr lang="en-US" sz="2099">
                <a:solidFill>
                  <a:srgbClr val="545454"/>
                </a:solidFill>
                <a:latin typeface="Poppins Light"/>
                <a:ea typeface="Poppins Light"/>
                <a:cs typeface="Poppins Light"/>
                <a:sym typeface="Poppins Light"/>
              </a:rPr>
              <a:t>5.Very Negative</a:t>
            </a:r>
          </a:p>
        </p:txBody>
      </p:sp>
      <p:sp>
        <p:nvSpPr>
          <p:cNvPr id="16" name="TextBox 16"/>
          <p:cNvSpPr txBox="1"/>
          <p:nvPr/>
        </p:nvSpPr>
        <p:spPr>
          <a:xfrm>
            <a:off x="3804243" y="1221571"/>
            <a:ext cx="10679515" cy="790575"/>
          </a:xfrm>
          <a:prstGeom prst="rect">
            <a:avLst/>
          </a:prstGeom>
        </p:spPr>
        <p:txBody>
          <a:bodyPr lIns="0" tIns="0" rIns="0" bIns="0" rtlCol="0" anchor="t">
            <a:spAutoFit/>
          </a:bodyPr>
          <a:lstStyle/>
          <a:p>
            <a:pPr algn="ctr">
              <a:lnSpc>
                <a:spcPts val="5999"/>
              </a:lnSpc>
            </a:pPr>
            <a:r>
              <a:rPr lang="en-US" sz="4999" b="1">
                <a:solidFill>
                  <a:srgbClr val="1C1C1C"/>
                </a:solidFill>
                <a:latin typeface="Poppins Bold"/>
                <a:ea typeface="Poppins Bold"/>
                <a:cs typeface="Poppins Bold"/>
                <a:sym typeface="Poppins Bold"/>
              </a:rPr>
              <a:t>CSAT (Key Metric)</a:t>
            </a:r>
          </a:p>
        </p:txBody>
      </p:sp>
      <p:sp>
        <p:nvSpPr>
          <p:cNvPr id="17" name="Freeform 17"/>
          <p:cNvSpPr/>
          <p:nvPr/>
        </p:nvSpPr>
        <p:spPr>
          <a:xfrm rot="701560">
            <a:off x="-209389" y="7817087"/>
            <a:ext cx="1322093" cy="1594629"/>
          </a:xfrm>
          <a:custGeom>
            <a:avLst/>
            <a:gdLst/>
            <a:ahLst/>
            <a:cxnLst/>
            <a:rect l="l" t="t" r="r" b="b"/>
            <a:pathLst>
              <a:path w="1322093" h="1594629">
                <a:moveTo>
                  <a:pt x="0" y="0"/>
                </a:moveTo>
                <a:lnTo>
                  <a:pt x="1322092" y="0"/>
                </a:lnTo>
                <a:lnTo>
                  <a:pt x="1322092"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8" name="Freeform 18"/>
          <p:cNvSpPr/>
          <p:nvPr/>
        </p:nvSpPr>
        <p:spPr>
          <a:xfrm rot="701560">
            <a:off x="17099496" y="8788680"/>
            <a:ext cx="1322093" cy="1594629"/>
          </a:xfrm>
          <a:custGeom>
            <a:avLst/>
            <a:gdLst/>
            <a:ahLst/>
            <a:cxnLst/>
            <a:rect l="l" t="t" r="r" b="b"/>
            <a:pathLst>
              <a:path w="1322093" h="1594629">
                <a:moveTo>
                  <a:pt x="0" y="0"/>
                </a:moveTo>
                <a:lnTo>
                  <a:pt x="1322092" y="0"/>
                </a:lnTo>
                <a:lnTo>
                  <a:pt x="1322092" y="1594630"/>
                </a:lnTo>
                <a:lnTo>
                  <a:pt x="0" y="1594630"/>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9" name="Freeform 19"/>
          <p:cNvSpPr/>
          <p:nvPr/>
        </p:nvSpPr>
        <p:spPr>
          <a:xfrm>
            <a:off x="14594306" y="5090197"/>
            <a:ext cx="1092462" cy="1092462"/>
          </a:xfrm>
          <a:custGeom>
            <a:avLst/>
            <a:gdLst/>
            <a:ahLst/>
            <a:cxnLst/>
            <a:rect l="l" t="t" r="r" b="b"/>
            <a:pathLst>
              <a:path w="1092462" h="1092462">
                <a:moveTo>
                  <a:pt x="0" y="0"/>
                </a:moveTo>
                <a:lnTo>
                  <a:pt x="1092463" y="0"/>
                </a:lnTo>
                <a:lnTo>
                  <a:pt x="1092463" y="1092463"/>
                </a:lnTo>
                <a:lnTo>
                  <a:pt x="0" y="10924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0" name="AutoShape 20"/>
          <p:cNvSpPr/>
          <p:nvPr/>
        </p:nvSpPr>
        <p:spPr>
          <a:xfrm>
            <a:off x="8887626" y="2140333"/>
            <a:ext cx="256374" cy="2510238"/>
          </a:xfrm>
          <a:prstGeom prst="line">
            <a:avLst/>
          </a:prstGeom>
          <a:ln w="38100" cap="flat">
            <a:solidFill>
              <a:srgbClr val="000000"/>
            </a:solidFill>
            <a:prstDash val="solid"/>
            <a:headEnd type="none" w="sm" len="sm"/>
            <a:tailEnd type="none" w="sm" len="sm"/>
          </a:ln>
        </p:spPr>
        <p:txBody>
          <a:bodyPr/>
          <a:lstStyle/>
          <a:p>
            <a:endParaRPr lang="en-IN"/>
          </a:p>
        </p:txBody>
      </p:sp>
      <p:sp>
        <p:nvSpPr>
          <p:cNvPr id="21" name="AutoShape 21"/>
          <p:cNvSpPr/>
          <p:nvPr/>
        </p:nvSpPr>
        <p:spPr>
          <a:xfrm flipH="1">
            <a:off x="4223561" y="2140333"/>
            <a:ext cx="4590571" cy="2510238"/>
          </a:xfrm>
          <a:prstGeom prst="line">
            <a:avLst/>
          </a:prstGeom>
          <a:ln w="38100" cap="flat">
            <a:solidFill>
              <a:srgbClr val="000000"/>
            </a:solidFill>
            <a:prstDash val="solid"/>
            <a:headEnd type="none" w="sm" len="sm"/>
            <a:tailEnd type="none" w="sm" len="sm"/>
          </a:ln>
        </p:spPr>
        <p:txBody>
          <a:bodyPr/>
          <a:lstStyle/>
          <a:p>
            <a:endParaRPr lang="en-IN"/>
          </a:p>
        </p:txBody>
      </p:sp>
      <p:sp>
        <p:nvSpPr>
          <p:cNvPr id="22" name="AutoShape 22"/>
          <p:cNvSpPr/>
          <p:nvPr/>
        </p:nvSpPr>
        <p:spPr>
          <a:xfrm>
            <a:off x="9144000" y="2012146"/>
            <a:ext cx="5610540" cy="2490419"/>
          </a:xfrm>
          <a:prstGeom prst="line">
            <a:avLst/>
          </a:prstGeom>
          <a:ln w="38100" cap="flat">
            <a:solidFill>
              <a:srgbClr val="000000"/>
            </a:solidFill>
            <a:prstDash val="solid"/>
            <a:headEnd type="none" w="sm" len="sm"/>
            <a:tailEnd type="none" w="sm" len="sm"/>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44982" y="2955209"/>
            <a:ext cx="4314318"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Call duration</a:t>
            </a:r>
          </a:p>
        </p:txBody>
      </p:sp>
      <p:sp>
        <p:nvSpPr>
          <p:cNvPr id="3" name="TextBox 3"/>
          <p:cNvSpPr txBox="1"/>
          <p:nvPr/>
        </p:nvSpPr>
        <p:spPr>
          <a:xfrm>
            <a:off x="12944982" y="3396067"/>
            <a:ext cx="4314318" cy="876300"/>
          </a:xfrm>
          <a:prstGeom prst="rect">
            <a:avLst/>
          </a:prstGeom>
        </p:spPr>
        <p:txBody>
          <a:bodyPr lIns="0" tIns="0" rIns="0" bIns="0" rtlCol="0" anchor="t">
            <a:spAutoFit/>
          </a:bodyPr>
          <a:lstStyle/>
          <a:p>
            <a:pPr algn="l">
              <a:lnSpc>
                <a:spcPts val="3599"/>
              </a:lnSpc>
            </a:pPr>
            <a:r>
              <a:rPr lang="en-US" sz="1999">
                <a:solidFill>
                  <a:srgbClr val="545454"/>
                </a:solidFill>
                <a:latin typeface="Poppins Light"/>
                <a:ea typeface="Poppins Light"/>
                <a:cs typeface="Poppins Light"/>
                <a:sym typeface="Poppins Light"/>
              </a:rPr>
              <a:t>Call duration is short, high CSAT score, vice-versa.</a:t>
            </a:r>
          </a:p>
        </p:txBody>
      </p:sp>
      <p:sp>
        <p:nvSpPr>
          <p:cNvPr id="4" name="TextBox 4"/>
          <p:cNvSpPr txBox="1"/>
          <p:nvPr/>
        </p:nvSpPr>
        <p:spPr>
          <a:xfrm>
            <a:off x="6605940" y="6659302"/>
            <a:ext cx="4314318"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Response time</a:t>
            </a:r>
          </a:p>
        </p:txBody>
      </p:sp>
      <p:sp>
        <p:nvSpPr>
          <p:cNvPr id="5" name="TextBox 5"/>
          <p:cNvSpPr txBox="1"/>
          <p:nvPr/>
        </p:nvSpPr>
        <p:spPr>
          <a:xfrm>
            <a:off x="6605940" y="7067550"/>
            <a:ext cx="4314318" cy="876300"/>
          </a:xfrm>
          <a:prstGeom prst="rect">
            <a:avLst/>
          </a:prstGeom>
        </p:spPr>
        <p:txBody>
          <a:bodyPr lIns="0" tIns="0" rIns="0" bIns="0" rtlCol="0" anchor="t">
            <a:spAutoFit/>
          </a:bodyPr>
          <a:lstStyle/>
          <a:p>
            <a:pPr algn="l">
              <a:lnSpc>
                <a:spcPts val="3599"/>
              </a:lnSpc>
            </a:pPr>
            <a:r>
              <a:rPr lang="en-US" sz="1999">
                <a:solidFill>
                  <a:srgbClr val="545454"/>
                </a:solidFill>
                <a:latin typeface="Poppins Light"/>
                <a:ea typeface="Poppins Light"/>
                <a:cs typeface="Poppins Light"/>
                <a:sym typeface="Poppins Light"/>
              </a:rPr>
              <a:t>Less response time, high CSAT score, vice-versa.</a:t>
            </a:r>
          </a:p>
        </p:txBody>
      </p:sp>
      <p:sp>
        <p:nvSpPr>
          <p:cNvPr id="6" name="Freeform 6"/>
          <p:cNvSpPr/>
          <p:nvPr/>
        </p:nvSpPr>
        <p:spPr>
          <a:xfrm>
            <a:off x="11579584" y="545329"/>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Freeform 7"/>
          <p:cNvSpPr/>
          <p:nvPr/>
        </p:nvSpPr>
        <p:spPr>
          <a:xfrm>
            <a:off x="16513479" y="545329"/>
            <a:ext cx="4921983" cy="985857"/>
          </a:xfrm>
          <a:custGeom>
            <a:avLst/>
            <a:gdLst/>
            <a:ahLst/>
            <a:cxnLst/>
            <a:rect l="l" t="t" r="r" b="b"/>
            <a:pathLst>
              <a:path w="4921983" h="985857">
                <a:moveTo>
                  <a:pt x="0" y="0"/>
                </a:moveTo>
                <a:lnTo>
                  <a:pt x="4921983" y="0"/>
                </a:lnTo>
                <a:lnTo>
                  <a:pt x="4921983"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8" name="Freeform 8"/>
          <p:cNvSpPr/>
          <p:nvPr/>
        </p:nvSpPr>
        <p:spPr>
          <a:xfrm>
            <a:off x="10721262" y="545329"/>
            <a:ext cx="3905602" cy="3905602"/>
          </a:xfrm>
          <a:custGeom>
            <a:avLst/>
            <a:gdLst/>
            <a:ahLst/>
            <a:cxnLst/>
            <a:rect l="l" t="t" r="r" b="b"/>
            <a:pathLst>
              <a:path w="3905602" h="3905602">
                <a:moveTo>
                  <a:pt x="0" y="0"/>
                </a:moveTo>
                <a:lnTo>
                  <a:pt x="3905602" y="0"/>
                </a:lnTo>
                <a:lnTo>
                  <a:pt x="3905602" y="3905602"/>
                </a:lnTo>
                <a:lnTo>
                  <a:pt x="0" y="39056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rot="-5400000">
            <a:off x="2343265" y="8426270"/>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flipH="1" flipV="1">
            <a:off x="7791992" y="2524031"/>
            <a:ext cx="3905602" cy="3905602"/>
          </a:xfrm>
          <a:custGeom>
            <a:avLst/>
            <a:gdLst/>
            <a:ahLst/>
            <a:cxnLst/>
            <a:rect l="l" t="t" r="r" b="b"/>
            <a:pathLst>
              <a:path w="3905602" h="3905602">
                <a:moveTo>
                  <a:pt x="3905602" y="3905601"/>
                </a:moveTo>
                <a:lnTo>
                  <a:pt x="0" y="3905601"/>
                </a:lnTo>
                <a:lnTo>
                  <a:pt x="0" y="0"/>
                </a:lnTo>
                <a:lnTo>
                  <a:pt x="3905602" y="0"/>
                </a:lnTo>
                <a:lnTo>
                  <a:pt x="3905602" y="3905601"/>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4311328" y="5464350"/>
            <a:ext cx="3793950" cy="3793950"/>
          </a:xfrm>
          <a:custGeom>
            <a:avLst/>
            <a:gdLst/>
            <a:ahLst/>
            <a:cxnLst/>
            <a:rect l="l" t="t" r="r" b="b"/>
            <a:pathLst>
              <a:path w="3793950" h="3793950">
                <a:moveTo>
                  <a:pt x="0" y="0"/>
                </a:moveTo>
                <a:lnTo>
                  <a:pt x="3793950" y="0"/>
                </a:lnTo>
                <a:lnTo>
                  <a:pt x="3793950" y="3793950"/>
                </a:lnTo>
                <a:lnTo>
                  <a:pt x="0" y="37939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p:cNvSpPr/>
          <p:nvPr/>
        </p:nvSpPr>
        <p:spPr>
          <a:xfrm>
            <a:off x="1028700" y="5143500"/>
            <a:ext cx="2453917" cy="4114800"/>
          </a:xfrm>
          <a:custGeom>
            <a:avLst/>
            <a:gdLst/>
            <a:ahLst/>
            <a:cxnLst/>
            <a:rect l="l" t="t" r="r" b="b"/>
            <a:pathLst>
              <a:path w="2453917" h="4114800">
                <a:moveTo>
                  <a:pt x="0" y="0"/>
                </a:moveTo>
                <a:lnTo>
                  <a:pt x="2453917" y="0"/>
                </a:lnTo>
                <a:lnTo>
                  <a:pt x="2453917"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TextBox 13"/>
          <p:cNvSpPr txBox="1"/>
          <p:nvPr/>
        </p:nvSpPr>
        <p:spPr>
          <a:xfrm>
            <a:off x="621751" y="507229"/>
            <a:ext cx="5579398" cy="790575"/>
          </a:xfrm>
          <a:prstGeom prst="rect">
            <a:avLst/>
          </a:prstGeom>
        </p:spPr>
        <p:txBody>
          <a:bodyPr lIns="0" tIns="0" rIns="0" bIns="0" rtlCol="0" anchor="t">
            <a:spAutoFit/>
          </a:bodyPr>
          <a:lstStyle/>
          <a:p>
            <a:pPr algn="l">
              <a:lnSpc>
                <a:spcPts val="5999"/>
              </a:lnSpc>
            </a:pPr>
            <a:r>
              <a:rPr lang="en-US" sz="4999" b="1">
                <a:solidFill>
                  <a:srgbClr val="1C1C1C"/>
                </a:solidFill>
                <a:latin typeface="Poppins Bold"/>
                <a:ea typeface="Poppins Bold"/>
                <a:cs typeface="Poppins Bold"/>
                <a:sym typeface="Poppins Bold"/>
              </a:rPr>
              <a:t>Hypothesis</a:t>
            </a:r>
          </a:p>
        </p:txBody>
      </p:sp>
      <p:sp>
        <p:nvSpPr>
          <p:cNvPr id="14" name="TextBox 14"/>
          <p:cNvSpPr txBox="1"/>
          <p:nvPr/>
        </p:nvSpPr>
        <p:spPr>
          <a:xfrm>
            <a:off x="12944982" y="5101355"/>
            <a:ext cx="4314318"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Call centers</a:t>
            </a:r>
          </a:p>
        </p:txBody>
      </p:sp>
      <p:sp>
        <p:nvSpPr>
          <p:cNvPr id="15" name="TextBox 15"/>
          <p:cNvSpPr txBox="1"/>
          <p:nvPr/>
        </p:nvSpPr>
        <p:spPr>
          <a:xfrm>
            <a:off x="12944982" y="5545175"/>
            <a:ext cx="4314318" cy="876300"/>
          </a:xfrm>
          <a:prstGeom prst="rect">
            <a:avLst/>
          </a:prstGeom>
        </p:spPr>
        <p:txBody>
          <a:bodyPr lIns="0" tIns="0" rIns="0" bIns="0" rtlCol="0" anchor="t">
            <a:spAutoFit/>
          </a:bodyPr>
          <a:lstStyle/>
          <a:p>
            <a:pPr algn="l">
              <a:lnSpc>
                <a:spcPts val="3599"/>
              </a:lnSpc>
            </a:pPr>
            <a:r>
              <a:rPr lang="en-US" sz="1999">
                <a:solidFill>
                  <a:srgbClr val="545454"/>
                </a:solidFill>
                <a:latin typeface="Poppins Light"/>
                <a:ea typeface="Poppins Light"/>
                <a:cs typeface="Poppins Light"/>
                <a:sym typeface="Poppins Light"/>
              </a:rPr>
              <a:t>Some call centers have higher CSAT scores compared to others.</a:t>
            </a:r>
          </a:p>
        </p:txBody>
      </p:sp>
      <p:sp>
        <p:nvSpPr>
          <p:cNvPr id="16" name="TextBox 16"/>
          <p:cNvSpPr txBox="1"/>
          <p:nvPr/>
        </p:nvSpPr>
        <p:spPr>
          <a:xfrm>
            <a:off x="12944982" y="7250464"/>
            <a:ext cx="4314318"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Sentiments</a:t>
            </a:r>
          </a:p>
        </p:txBody>
      </p:sp>
      <p:sp>
        <p:nvSpPr>
          <p:cNvPr id="17" name="TextBox 17"/>
          <p:cNvSpPr txBox="1"/>
          <p:nvPr/>
        </p:nvSpPr>
        <p:spPr>
          <a:xfrm>
            <a:off x="12944982" y="7694284"/>
            <a:ext cx="4314318" cy="1771650"/>
          </a:xfrm>
          <a:prstGeom prst="rect">
            <a:avLst/>
          </a:prstGeom>
        </p:spPr>
        <p:txBody>
          <a:bodyPr lIns="0" tIns="0" rIns="0" bIns="0" rtlCol="0" anchor="t">
            <a:spAutoFit/>
          </a:bodyPr>
          <a:lstStyle/>
          <a:p>
            <a:pPr algn="l">
              <a:lnSpc>
                <a:spcPts val="3599"/>
              </a:lnSpc>
            </a:pPr>
            <a:r>
              <a:rPr lang="en-US" sz="1999">
                <a:solidFill>
                  <a:srgbClr val="545454"/>
                </a:solidFill>
                <a:latin typeface="Poppins Light"/>
                <a:ea typeface="Poppins Light"/>
                <a:cs typeface="Poppins Light"/>
                <a:sym typeface="Poppins Light"/>
              </a:rPr>
              <a:t>Negative sentiments results in less CSAT scores whereas positive sentiment results in higher CSAT score.</a:t>
            </a:r>
          </a:p>
        </p:txBody>
      </p:sp>
      <p:sp>
        <p:nvSpPr>
          <p:cNvPr id="18" name="Freeform 18"/>
          <p:cNvSpPr/>
          <p:nvPr/>
        </p:nvSpPr>
        <p:spPr>
          <a:xfrm>
            <a:off x="6041604" y="6542167"/>
            <a:ext cx="445049" cy="717821"/>
          </a:xfrm>
          <a:custGeom>
            <a:avLst/>
            <a:gdLst/>
            <a:ahLst/>
            <a:cxnLst/>
            <a:rect l="l" t="t" r="r" b="b"/>
            <a:pathLst>
              <a:path w="445049" h="717821">
                <a:moveTo>
                  <a:pt x="0" y="0"/>
                </a:moveTo>
                <a:lnTo>
                  <a:pt x="445049" y="0"/>
                </a:lnTo>
                <a:lnTo>
                  <a:pt x="445049" y="717822"/>
                </a:lnTo>
                <a:lnTo>
                  <a:pt x="0" y="7178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9" name="Freeform 19"/>
          <p:cNvSpPr/>
          <p:nvPr/>
        </p:nvSpPr>
        <p:spPr>
          <a:xfrm>
            <a:off x="12229013" y="2762985"/>
            <a:ext cx="445049" cy="717821"/>
          </a:xfrm>
          <a:custGeom>
            <a:avLst/>
            <a:gdLst/>
            <a:ahLst/>
            <a:cxnLst/>
            <a:rect l="l" t="t" r="r" b="b"/>
            <a:pathLst>
              <a:path w="445049" h="717821">
                <a:moveTo>
                  <a:pt x="0" y="0"/>
                </a:moveTo>
                <a:lnTo>
                  <a:pt x="445050" y="0"/>
                </a:lnTo>
                <a:lnTo>
                  <a:pt x="445050" y="717822"/>
                </a:lnTo>
                <a:lnTo>
                  <a:pt x="0" y="7178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0" name="Freeform 20"/>
          <p:cNvSpPr/>
          <p:nvPr/>
        </p:nvSpPr>
        <p:spPr>
          <a:xfrm>
            <a:off x="12229013" y="4909132"/>
            <a:ext cx="445049" cy="717821"/>
          </a:xfrm>
          <a:custGeom>
            <a:avLst/>
            <a:gdLst/>
            <a:ahLst/>
            <a:cxnLst/>
            <a:rect l="l" t="t" r="r" b="b"/>
            <a:pathLst>
              <a:path w="445049" h="717821">
                <a:moveTo>
                  <a:pt x="0" y="0"/>
                </a:moveTo>
                <a:lnTo>
                  <a:pt x="445050" y="0"/>
                </a:lnTo>
                <a:lnTo>
                  <a:pt x="445050" y="717821"/>
                </a:lnTo>
                <a:lnTo>
                  <a:pt x="0" y="7178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1" name="Freeform 21"/>
          <p:cNvSpPr/>
          <p:nvPr/>
        </p:nvSpPr>
        <p:spPr>
          <a:xfrm>
            <a:off x="12229013" y="6983152"/>
            <a:ext cx="445049" cy="717821"/>
          </a:xfrm>
          <a:custGeom>
            <a:avLst/>
            <a:gdLst/>
            <a:ahLst/>
            <a:cxnLst/>
            <a:rect l="l" t="t" r="r" b="b"/>
            <a:pathLst>
              <a:path w="445049" h="717821">
                <a:moveTo>
                  <a:pt x="0" y="0"/>
                </a:moveTo>
                <a:lnTo>
                  <a:pt x="445050" y="0"/>
                </a:lnTo>
                <a:lnTo>
                  <a:pt x="445050" y="717822"/>
                </a:lnTo>
                <a:lnTo>
                  <a:pt x="0" y="7178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2" name="Freeform 22"/>
          <p:cNvSpPr/>
          <p:nvPr/>
        </p:nvSpPr>
        <p:spPr>
          <a:xfrm rot="701560">
            <a:off x="185470" y="9258300"/>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3" name="Freeform 23"/>
          <p:cNvSpPr/>
          <p:nvPr/>
        </p:nvSpPr>
        <p:spPr>
          <a:xfrm rot="-2250332">
            <a:off x="7828957" y="1925944"/>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4" name="Freeform 24"/>
          <p:cNvSpPr/>
          <p:nvPr/>
        </p:nvSpPr>
        <p:spPr>
          <a:xfrm rot="701560">
            <a:off x="17150315" y="9258300"/>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5" name="Freeform 25"/>
          <p:cNvSpPr/>
          <p:nvPr/>
        </p:nvSpPr>
        <p:spPr>
          <a:xfrm rot="-2989715">
            <a:off x="11358218" y="8731541"/>
            <a:ext cx="678752" cy="818670"/>
          </a:xfrm>
          <a:custGeom>
            <a:avLst/>
            <a:gdLst/>
            <a:ahLst/>
            <a:cxnLst/>
            <a:rect l="l" t="t" r="r" b="b"/>
            <a:pathLst>
              <a:path w="678752" h="818670">
                <a:moveTo>
                  <a:pt x="0" y="0"/>
                </a:moveTo>
                <a:lnTo>
                  <a:pt x="678752" y="0"/>
                </a:lnTo>
                <a:lnTo>
                  <a:pt x="678752" y="818670"/>
                </a:lnTo>
                <a:lnTo>
                  <a:pt x="0" y="818670"/>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6" name="Freeform 26"/>
          <p:cNvSpPr/>
          <p:nvPr/>
        </p:nvSpPr>
        <p:spPr>
          <a:xfrm>
            <a:off x="5978625" y="8201377"/>
            <a:ext cx="445049" cy="717821"/>
          </a:xfrm>
          <a:custGeom>
            <a:avLst/>
            <a:gdLst/>
            <a:ahLst/>
            <a:cxnLst/>
            <a:rect l="l" t="t" r="r" b="b"/>
            <a:pathLst>
              <a:path w="445049" h="717821">
                <a:moveTo>
                  <a:pt x="0" y="0"/>
                </a:moveTo>
                <a:lnTo>
                  <a:pt x="445049" y="0"/>
                </a:lnTo>
                <a:lnTo>
                  <a:pt x="445049" y="717822"/>
                </a:lnTo>
                <a:lnTo>
                  <a:pt x="0" y="7178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7" name="TextBox 27"/>
          <p:cNvSpPr txBox="1"/>
          <p:nvPr/>
        </p:nvSpPr>
        <p:spPr>
          <a:xfrm>
            <a:off x="6637623" y="8293650"/>
            <a:ext cx="4314318" cy="352425"/>
          </a:xfrm>
          <a:prstGeom prst="rect">
            <a:avLst/>
          </a:prstGeom>
        </p:spPr>
        <p:txBody>
          <a:bodyPr lIns="0" tIns="0" rIns="0" bIns="0" rtlCol="0" anchor="t">
            <a:spAutoFit/>
          </a:bodyPr>
          <a:lstStyle/>
          <a:p>
            <a:pPr algn="l">
              <a:lnSpc>
                <a:spcPts val="2759"/>
              </a:lnSpc>
            </a:pPr>
            <a:r>
              <a:rPr lang="en-US" sz="2299" b="1">
                <a:solidFill>
                  <a:srgbClr val="414141"/>
                </a:solidFill>
                <a:latin typeface="Poppins Bold"/>
                <a:ea typeface="Poppins Bold"/>
                <a:cs typeface="Poppins Bold"/>
                <a:sym typeface="Poppins Bold"/>
              </a:rPr>
              <a:t>Channel</a:t>
            </a:r>
          </a:p>
        </p:txBody>
      </p:sp>
      <p:sp>
        <p:nvSpPr>
          <p:cNvPr id="28" name="TextBox 28"/>
          <p:cNvSpPr txBox="1"/>
          <p:nvPr/>
        </p:nvSpPr>
        <p:spPr>
          <a:xfrm>
            <a:off x="6605940" y="8722275"/>
            <a:ext cx="4314318" cy="1323975"/>
          </a:xfrm>
          <a:prstGeom prst="rect">
            <a:avLst/>
          </a:prstGeom>
        </p:spPr>
        <p:txBody>
          <a:bodyPr lIns="0" tIns="0" rIns="0" bIns="0" rtlCol="0" anchor="t">
            <a:spAutoFit/>
          </a:bodyPr>
          <a:lstStyle/>
          <a:p>
            <a:pPr algn="l">
              <a:lnSpc>
                <a:spcPts val="3599"/>
              </a:lnSpc>
            </a:pPr>
            <a:r>
              <a:rPr lang="en-US" sz="1999">
                <a:solidFill>
                  <a:srgbClr val="545454"/>
                </a:solidFill>
                <a:latin typeface="Poppins"/>
                <a:ea typeface="Poppins"/>
                <a:cs typeface="Poppins"/>
                <a:sym typeface="Poppins"/>
              </a:rPr>
              <a:t>Some channels have higher CSAT scores compared to others. eg., call center, chatbots, email, web</a:t>
            </a:r>
          </a:p>
        </p:txBody>
      </p:sp>
      <p:sp>
        <p:nvSpPr>
          <p:cNvPr id="29" name="TextBox 29"/>
          <p:cNvSpPr txBox="1"/>
          <p:nvPr/>
        </p:nvSpPr>
        <p:spPr>
          <a:xfrm>
            <a:off x="686972" y="1665487"/>
            <a:ext cx="5354632" cy="2750893"/>
          </a:xfrm>
          <a:prstGeom prst="rect">
            <a:avLst/>
          </a:prstGeom>
        </p:spPr>
        <p:txBody>
          <a:bodyPr lIns="0" tIns="0" rIns="0" bIns="0" rtlCol="0" anchor="t">
            <a:spAutoFit/>
          </a:bodyPr>
          <a:lstStyle/>
          <a:p>
            <a:pPr algn="l">
              <a:lnSpc>
                <a:spcPts val="4468"/>
              </a:lnSpc>
            </a:pPr>
            <a:r>
              <a:rPr lang="en-US" sz="2482">
                <a:solidFill>
                  <a:srgbClr val="545454"/>
                </a:solidFill>
                <a:latin typeface="Poppins"/>
                <a:ea typeface="Poppins"/>
                <a:cs typeface="Poppins"/>
                <a:sym typeface="Poppins"/>
              </a:rPr>
              <a:t>A hypothesis is a testable assumption about what might be causing a problem.</a:t>
            </a:r>
          </a:p>
          <a:p>
            <a:pPr algn="l">
              <a:lnSpc>
                <a:spcPts val="4468"/>
              </a:lnSpc>
            </a:pPr>
            <a:endParaRPr lang="en-US" sz="2482">
              <a:solidFill>
                <a:srgbClr val="545454"/>
              </a:solidFill>
              <a:latin typeface="Poppins"/>
              <a:ea typeface="Poppins"/>
              <a:cs typeface="Poppins"/>
              <a:sym typeface="Poppins"/>
            </a:endParaRPr>
          </a:p>
          <a:p>
            <a:pPr algn="l">
              <a:lnSpc>
                <a:spcPts val="4468"/>
              </a:lnSpc>
            </a:pPr>
            <a:endParaRPr lang="en-US" sz="2482">
              <a:solidFill>
                <a:srgbClr val="545454"/>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84590" y="6788999"/>
            <a:ext cx="3320512" cy="2922051"/>
          </a:xfrm>
          <a:custGeom>
            <a:avLst/>
            <a:gdLst/>
            <a:ahLst/>
            <a:cxnLst/>
            <a:rect l="l" t="t" r="r" b="b"/>
            <a:pathLst>
              <a:path w="3320512" h="2922051">
                <a:moveTo>
                  <a:pt x="0" y="0"/>
                </a:moveTo>
                <a:lnTo>
                  <a:pt x="3320512" y="0"/>
                </a:lnTo>
                <a:lnTo>
                  <a:pt x="3320512" y="2922051"/>
                </a:lnTo>
                <a:lnTo>
                  <a:pt x="0" y="29220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520254">
            <a:off x="-347589" y="7770505"/>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250332">
            <a:off x="7817663" y="359285"/>
            <a:ext cx="1024012" cy="1235103"/>
          </a:xfrm>
          <a:custGeom>
            <a:avLst/>
            <a:gdLst/>
            <a:ahLst/>
            <a:cxnLst/>
            <a:rect l="l" t="t" r="r" b="b"/>
            <a:pathLst>
              <a:path w="1024012" h="1235103">
                <a:moveTo>
                  <a:pt x="0" y="0"/>
                </a:moveTo>
                <a:lnTo>
                  <a:pt x="1024013" y="0"/>
                </a:lnTo>
                <a:lnTo>
                  <a:pt x="1024013" y="1235102"/>
                </a:lnTo>
                <a:lnTo>
                  <a:pt x="0" y="1235102"/>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2881562">
            <a:off x="17365726" y="369692"/>
            <a:ext cx="678752" cy="818670"/>
          </a:xfrm>
          <a:custGeom>
            <a:avLst/>
            <a:gdLst/>
            <a:ahLst/>
            <a:cxnLst/>
            <a:rect l="l" t="t" r="r" b="b"/>
            <a:pathLst>
              <a:path w="678752" h="818670">
                <a:moveTo>
                  <a:pt x="0" y="0"/>
                </a:moveTo>
                <a:lnTo>
                  <a:pt x="678752" y="0"/>
                </a:lnTo>
                <a:lnTo>
                  <a:pt x="678752" y="818671"/>
                </a:lnTo>
                <a:lnTo>
                  <a:pt x="0" y="818671"/>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2279228">
            <a:off x="2861998" y="5103317"/>
            <a:ext cx="428618" cy="516973"/>
          </a:xfrm>
          <a:custGeom>
            <a:avLst/>
            <a:gdLst/>
            <a:ahLst/>
            <a:cxnLst/>
            <a:rect l="l" t="t" r="r" b="b"/>
            <a:pathLst>
              <a:path w="428618" h="516973">
                <a:moveTo>
                  <a:pt x="0" y="0"/>
                </a:moveTo>
                <a:lnTo>
                  <a:pt x="428618" y="0"/>
                </a:lnTo>
                <a:lnTo>
                  <a:pt x="428618" y="516974"/>
                </a:lnTo>
                <a:lnTo>
                  <a:pt x="0" y="516974"/>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8612526" y="2110011"/>
            <a:ext cx="8383426" cy="4347442"/>
          </a:xfrm>
          <a:custGeom>
            <a:avLst/>
            <a:gdLst/>
            <a:ahLst/>
            <a:cxnLst/>
            <a:rect l="l" t="t" r="r" b="b"/>
            <a:pathLst>
              <a:path w="8383426" h="4347442">
                <a:moveTo>
                  <a:pt x="0" y="0"/>
                </a:moveTo>
                <a:lnTo>
                  <a:pt x="8383426" y="0"/>
                </a:lnTo>
                <a:lnTo>
                  <a:pt x="8383426" y="4347442"/>
                </a:lnTo>
                <a:lnTo>
                  <a:pt x="0" y="4347442"/>
                </a:lnTo>
                <a:lnTo>
                  <a:pt x="0" y="0"/>
                </a:lnTo>
                <a:close/>
              </a:path>
            </a:pathLst>
          </a:custGeom>
          <a:blipFill>
            <a:blip r:embed="rId4"/>
            <a:stretch>
              <a:fillRect/>
            </a:stretch>
          </a:blipFill>
        </p:spPr>
        <p:txBody>
          <a:bodyPr/>
          <a:lstStyle/>
          <a:p>
            <a:endParaRPr lang="en-IN"/>
          </a:p>
        </p:txBody>
      </p:sp>
      <p:sp>
        <p:nvSpPr>
          <p:cNvPr id="8" name="Freeform 8"/>
          <p:cNvSpPr/>
          <p:nvPr/>
        </p:nvSpPr>
        <p:spPr>
          <a:xfrm>
            <a:off x="313457" y="1445509"/>
            <a:ext cx="8206074" cy="5343490"/>
          </a:xfrm>
          <a:custGeom>
            <a:avLst/>
            <a:gdLst/>
            <a:ahLst/>
            <a:cxnLst/>
            <a:rect l="l" t="t" r="r" b="b"/>
            <a:pathLst>
              <a:path w="8206074" h="5343490">
                <a:moveTo>
                  <a:pt x="0" y="0"/>
                </a:moveTo>
                <a:lnTo>
                  <a:pt x="8206074" y="0"/>
                </a:lnTo>
                <a:lnTo>
                  <a:pt x="8206074" y="5343490"/>
                </a:lnTo>
                <a:lnTo>
                  <a:pt x="0" y="5343490"/>
                </a:lnTo>
                <a:lnTo>
                  <a:pt x="0" y="0"/>
                </a:lnTo>
                <a:close/>
              </a:path>
            </a:pathLst>
          </a:custGeom>
          <a:blipFill>
            <a:blip r:embed="rId5"/>
            <a:stretch>
              <a:fillRect/>
            </a:stretch>
          </a:blipFill>
        </p:spPr>
        <p:txBody>
          <a:bodyPr/>
          <a:lstStyle/>
          <a:p>
            <a:endParaRPr lang="en-IN"/>
          </a:p>
        </p:txBody>
      </p:sp>
      <p:sp>
        <p:nvSpPr>
          <p:cNvPr id="9" name="TextBox 9"/>
          <p:cNvSpPr txBox="1"/>
          <p:nvPr/>
        </p:nvSpPr>
        <p:spPr>
          <a:xfrm>
            <a:off x="6322131" y="-11547"/>
            <a:ext cx="5579398" cy="1543050"/>
          </a:xfrm>
          <a:prstGeom prst="rect">
            <a:avLst/>
          </a:prstGeom>
        </p:spPr>
        <p:txBody>
          <a:bodyPr lIns="0" tIns="0" rIns="0" bIns="0" rtlCol="0" anchor="t">
            <a:spAutoFit/>
          </a:bodyPr>
          <a:lstStyle/>
          <a:p>
            <a:pPr algn="just">
              <a:lnSpc>
                <a:spcPts val="5999"/>
              </a:lnSpc>
            </a:pPr>
            <a:r>
              <a:rPr lang="en-US" sz="4999" b="1">
                <a:solidFill>
                  <a:srgbClr val="1C1C1C"/>
                </a:solidFill>
                <a:latin typeface="Poppins Bold"/>
                <a:ea typeface="Poppins Bold"/>
                <a:cs typeface="Poppins Bold"/>
                <a:sym typeface="Poppins Bold"/>
              </a:rPr>
              <a:t>Root-Cause-Analysis (RCA)</a:t>
            </a:r>
          </a:p>
        </p:txBody>
      </p:sp>
      <p:sp>
        <p:nvSpPr>
          <p:cNvPr id="10" name="TextBox 10"/>
          <p:cNvSpPr txBox="1"/>
          <p:nvPr/>
        </p:nvSpPr>
        <p:spPr>
          <a:xfrm>
            <a:off x="1602351" y="6943807"/>
            <a:ext cx="12313291" cy="3307081"/>
          </a:xfrm>
          <a:prstGeom prst="rect">
            <a:avLst/>
          </a:prstGeom>
        </p:spPr>
        <p:txBody>
          <a:bodyPr lIns="0" tIns="0" rIns="0" bIns="0" rtlCol="0" anchor="t">
            <a:spAutoFit/>
          </a:bodyPr>
          <a:lstStyle/>
          <a:p>
            <a:pPr algn="l">
              <a:lnSpc>
                <a:spcPts val="3779"/>
              </a:lnSpc>
            </a:pPr>
            <a:r>
              <a:rPr lang="en-US" sz="2099" b="1">
                <a:solidFill>
                  <a:srgbClr val="000000"/>
                </a:solidFill>
                <a:latin typeface="Poppins Bold"/>
                <a:ea typeface="Poppins Bold"/>
                <a:cs typeface="Poppins Bold"/>
                <a:sym typeface="Poppins Bold"/>
              </a:rPr>
              <a:t>After selecting CSAT as the key metric and calculating the average CSAT score across call centers, it was observed that Kolkata has the lowest CSAT. To investigate further, a hypothesis was performed that the issue could be due to the nature of calls handled by the Kolkata center. To test this, the distribution of calls by region was analyzed. It was found that Kolkata handles a higher number of calls from South and West regions and least from East. This could be impacting service efficiency and in turn, lowering CSAT.</a:t>
            </a:r>
          </a:p>
          <a:p>
            <a:pPr algn="l">
              <a:lnSpc>
                <a:spcPts val="3779"/>
              </a:lnSpc>
            </a:pPr>
            <a:endParaRPr lang="en-US" sz="2099" b="1">
              <a:solidFill>
                <a:srgbClr val="000000"/>
              </a:solidFill>
              <a:latin typeface="Poppins Bold"/>
              <a:ea typeface="Poppins Bold"/>
              <a:cs typeface="Poppins Bold"/>
              <a:sym typeface="Poppi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01560">
            <a:off x="147868" y="7428380"/>
            <a:ext cx="1322093" cy="1594629"/>
          </a:xfrm>
          <a:custGeom>
            <a:avLst/>
            <a:gdLst/>
            <a:ahLst/>
            <a:cxnLst/>
            <a:rect l="l" t="t" r="r" b="b"/>
            <a:pathLst>
              <a:path w="1322093" h="1594629">
                <a:moveTo>
                  <a:pt x="0" y="0"/>
                </a:moveTo>
                <a:lnTo>
                  <a:pt x="1322093" y="0"/>
                </a:lnTo>
                <a:lnTo>
                  <a:pt x="1322093" y="1594630"/>
                </a:lnTo>
                <a:lnTo>
                  <a:pt x="0" y="1594630"/>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2250332">
            <a:off x="16605636" y="1738623"/>
            <a:ext cx="868487" cy="1047518"/>
          </a:xfrm>
          <a:custGeom>
            <a:avLst/>
            <a:gdLst/>
            <a:ahLst/>
            <a:cxnLst/>
            <a:rect l="l" t="t" r="r" b="b"/>
            <a:pathLst>
              <a:path w="868487" h="1047518">
                <a:moveTo>
                  <a:pt x="0" y="0"/>
                </a:moveTo>
                <a:lnTo>
                  <a:pt x="868487" y="0"/>
                </a:lnTo>
                <a:lnTo>
                  <a:pt x="868487" y="1047518"/>
                </a:lnTo>
                <a:lnTo>
                  <a:pt x="0" y="1047518"/>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701560">
            <a:off x="15789339" y="7874584"/>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rot="2279228">
            <a:off x="7260108" y="619705"/>
            <a:ext cx="654118" cy="788958"/>
          </a:xfrm>
          <a:custGeom>
            <a:avLst/>
            <a:gdLst/>
            <a:ahLst/>
            <a:cxnLst/>
            <a:rect l="l" t="t" r="r" b="b"/>
            <a:pathLst>
              <a:path w="654118" h="788958">
                <a:moveTo>
                  <a:pt x="0" y="0"/>
                </a:moveTo>
                <a:lnTo>
                  <a:pt x="654118" y="0"/>
                </a:lnTo>
                <a:lnTo>
                  <a:pt x="654118" y="788958"/>
                </a:lnTo>
                <a:lnTo>
                  <a:pt x="0" y="788958"/>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0" y="0"/>
            <a:ext cx="8737920" cy="4876282"/>
          </a:xfrm>
          <a:custGeom>
            <a:avLst/>
            <a:gdLst/>
            <a:ahLst/>
            <a:cxnLst/>
            <a:rect l="l" t="t" r="r" b="b"/>
            <a:pathLst>
              <a:path w="8737920" h="4876282">
                <a:moveTo>
                  <a:pt x="0" y="0"/>
                </a:moveTo>
                <a:lnTo>
                  <a:pt x="8737920" y="0"/>
                </a:lnTo>
                <a:lnTo>
                  <a:pt x="8737920" y="4876282"/>
                </a:lnTo>
                <a:lnTo>
                  <a:pt x="0" y="4876282"/>
                </a:lnTo>
                <a:lnTo>
                  <a:pt x="0" y="0"/>
                </a:lnTo>
                <a:close/>
              </a:path>
            </a:pathLst>
          </a:custGeom>
          <a:blipFill>
            <a:blip r:embed="rId3"/>
            <a:stretch>
              <a:fillRect t="-3852" b="-3852"/>
            </a:stretch>
          </a:blipFill>
        </p:spPr>
        <p:txBody>
          <a:bodyPr/>
          <a:lstStyle/>
          <a:p>
            <a:endParaRPr lang="en-IN"/>
          </a:p>
        </p:txBody>
      </p:sp>
      <p:sp>
        <p:nvSpPr>
          <p:cNvPr id="7" name="Freeform 7"/>
          <p:cNvSpPr/>
          <p:nvPr/>
        </p:nvSpPr>
        <p:spPr>
          <a:xfrm>
            <a:off x="0" y="4876282"/>
            <a:ext cx="8737920" cy="5350362"/>
          </a:xfrm>
          <a:custGeom>
            <a:avLst/>
            <a:gdLst/>
            <a:ahLst/>
            <a:cxnLst/>
            <a:rect l="l" t="t" r="r" b="b"/>
            <a:pathLst>
              <a:path w="8737920" h="5350362">
                <a:moveTo>
                  <a:pt x="0" y="0"/>
                </a:moveTo>
                <a:lnTo>
                  <a:pt x="8737920" y="0"/>
                </a:lnTo>
                <a:lnTo>
                  <a:pt x="8737920" y="5350362"/>
                </a:lnTo>
                <a:lnTo>
                  <a:pt x="0" y="5350362"/>
                </a:lnTo>
                <a:lnTo>
                  <a:pt x="0" y="0"/>
                </a:lnTo>
                <a:close/>
              </a:path>
            </a:pathLst>
          </a:custGeom>
          <a:blipFill>
            <a:blip r:embed="rId4"/>
            <a:stretch>
              <a:fillRect t="-3643" r="-9294" b="-3643"/>
            </a:stretch>
          </a:blipFill>
        </p:spPr>
        <p:txBody>
          <a:bodyPr/>
          <a:lstStyle/>
          <a:p>
            <a:endParaRPr lang="en-IN"/>
          </a:p>
        </p:txBody>
      </p:sp>
      <p:sp>
        <p:nvSpPr>
          <p:cNvPr id="8" name="Freeform 8"/>
          <p:cNvSpPr/>
          <p:nvPr/>
        </p:nvSpPr>
        <p:spPr>
          <a:xfrm>
            <a:off x="8737920" y="5364555"/>
            <a:ext cx="9550080" cy="5189663"/>
          </a:xfrm>
          <a:custGeom>
            <a:avLst/>
            <a:gdLst/>
            <a:ahLst/>
            <a:cxnLst/>
            <a:rect l="l" t="t" r="r" b="b"/>
            <a:pathLst>
              <a:path w="9550080" h="5189663">
                <a:moveTo>
                  <a:pt x="0" y="0"/>
                </a:moveTo>
                <a:lnTo>
                  <a:pt x="9550080" y="0"/>
                </a:lnTo>
                <a:lnTo>
                  <a:pt x="9550080" y="5189663"/>
                </a:lnTo>
                <a:lnTo>
                  <a:pt x="0" y="5189663"/>
                </a:lnTo>
                <a:lnTo>
                  <a:pt x="0" y="0"/>
                </a:lnTo>
                <a:close/>
              </a:path>
            </a:pathLst>
          </a:custGeom>
          <a:blipFill>
            <a:blip r:embed="rId5"/>
            <a:stretch>
              <a:fillRect l="-860" t="-4301" r="-2565" b="-10096"/>
            </a:stretch>
          </a:blipFill>
        </p:spPr>
        <p:txBody>
          <a:bodyPr/>
          <a:lstStyle/>
          <a:p>
            <a:endParaRPr lang="en-IN"/>
          </a:p>
        </p:txBody>
      </p:sp>
      <p:sp>
        <p:nvSpPr>
          <p:cNvPr id="9" name="Freeform 9"/>
          <p:cNvSpPr/>
          <p:nvPr/>
        </p:nvSpPr>
        <p:spPr>
          <a:xfrm>
            <a:off x="8485286" y="-210051"/>
            <a:ext cx="9802714" cy="5574606"/>
          </a:xfrm>
          <a:custGeom>
            <a:avLst/>
            <a:gdLst/>
            <a:ahLst/>
            <a:cxnLst/>
            <a:rect l="l" t="t" r="r" b="b"/>
            <a:pathLst>
              <a:path w="9802714" h="5574606">
                <a:moveTo>
                  <a:pt x="0" y="0"/>
                </a:moveTo>
                <a:lnTo>
                  <a:pt x="9802714" y="0"/>
                </a:lnTo>
                <a:lnTo>
                  <a:pt x="9802714" y="5574606"/>
                </a:lnTo>
                <a:lnTo>
                  <a:pt x="0" y="5574606"/>
                </a:lnTo>
                <a:lnTo>
                  <a:pt x="0" y="0"/>
                </a:lnTo>
                <a:close/>
              </a:path>
            </a:pathLst>
          </a:custGeom>
          <a:blipFill>
            <a:blip r:embed="rId6"/>
            <a:stretch>
              <a:fillRect t="-2200" b="-3493"/>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84590" y="6788999"/>
            <a:ext cx="3320512" cy="2922051"/>
          </a:xfrm>
          <a:custGeom>
            <a:avLst/>
            <a:gdLst/>
            <a:ahLst/>
            <a:cxnLst/>
            <a:rect l="l" t="t" r="r" b="b"/>
            <a:pathLst>
              <a:path w="3320512" h="2922051">
                <a:moveTo>
                  <a:pt x="0" y="0"/>
                </a:moveTo>
                <a:lnTo>
                  <a:pt x="3320512" y="0"/>
                </a:lnTo>
                <a:lnTo>
                  <a:pt x="3320512" y="2922051"/>
                </a:lnTo>
                <a:lnTo>
                  <a:pt x="0" y="29220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520254">
            <a:off x="-347589" y="7770505"/>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250332">
            <a:off x="7817663" y="359285"/>
            <a:ext cx="1024012" cy="1235103"/>
          </a:xfrm>
          <a:custGeom>
            <a:avLst/>
            <a:gdLst/>
            <a:ahLst/>
            <a:cxnLst/>
            <a:rect l="l" t="t" r="r" b="b"/>
            <a:pathLst>
              <a:path w="1024012" h="1235103">
                <a:moveTo>
                  <a:pt x="0" y="0"/>
                </a:moveTo>
                <a:lnTo>
                  <a:pt x="1024013" y="0"/>
                </a:lnTo>
                <a:lnTo>
                  <a:pt x="1024013" y="1235102"/>
                </a:lnTo>
                <a:lnTo>
                  <a:pt x="0" y="1235102"/>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2881562">
            <a:off x="17365726" y="369692"/>
            <a:ext cx="678752" cy="818670"/>
          </a:xfrm>
          <a:custGeom>
            <a:avLst/>
            <a:gdLst/>
            <a:ahLst/>
            <a:cxnLst/>
            <a:rect l="l" t="t" r="r" b="b"/>
            <a:pathLst>
              <a:path w="678752" h="818670">
                <a:moveTo>
                  <a:pt x="0" y="0"/>
                </a:moveTo>
                <a:lnTo>
                  <a:pt x="678752" y="0"/>
                </a:lnTo>
                <a:lnTo>
                  <a:pt x="678752" y="818671"/>
                </a:lnTo>
                <a:lnTo>
                  <a:pt x="0" y="818671"/>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2279228">
            <a:off x="2861998" y="5103317"/>
            <a:ext cx="428618" cy="516973"/>
          </a:xfrm>
          <a:custGeom>
            <a:avLst/>
            <a:gdLst/>
            <a:ahLst/>
            <a:cxnLst/>
            <a:rect l="l" t="t" r="r" b="b"/>
            <a:pathLst>
              <a:path w="428618" h="516973">
                <a:moveTo>
                  <a:pt x="0" y="0"/>
                </a:moveTo>
                <a:lnTo>
                  <a:pt x="428618" y="0"/>
                </a:lnTo>
                <a:lnTo>
                  <a:pt x="428618" y="516974"/>
                </a:lnTo>
                <a:lnTo>
                  <a:pt x="0" y="516974"/>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51606" y="100558"/>
            <a:ext cx="18236394" cy="5637741"/>
          </a:xfrm>
          <a:prstGeom prst="rect">
            <a:avLst/>
          </a:prstGeom>
        </p:spPr>
        <p:txBody>
          <a:bodyPr lIns="0" tIns="0" rIns="0" bIns="0" rtlCol="0" anchor="t">
            <a:spAutoFit/>
          </a:bodyPr>
          <a:lstStyle/>
          <a:p>
            <a:pPr algn="l">
              <a:lnSpc>
                <a:spcPts val="4075"/>
              </a:lnSpc>
            </a:pPr>
            <a:r>
              <a:rPr lang="en-US" sz="2263" b="1">
                <a:solidFill>
                  <a:srgbClr val="000000"/>
                </a:solidFill>
                <a:latin typeface="Poppins Bold"/>
                <a:ea typeface="Poppins Bold"/>
                <a:cs typeface="Poppins Bold"/>
                <a:sym typeface="Poppins Bold"/>
              </a:rPr>
              <a:t>After identifying that the Kolkata call center receives a high volume of calls from the South region, a deeper analysis was conducted to understand the underlying factors. It was observed that Andhra Pradesh, Tamil Nadu, Karnataka and Telangana contribute the highest number of calls to the Kolkata center.</a:t>
            </a:r>
          </a:p>
          <a:p>
            <a:pPr algn="l">
              <a:lnSpc>
                <a:spcPts val="4075"/>
              </a:lnSpc>
            </a:pPr>
            <a:r>
              <a:rPr lang="en-US" sz="2263" b="1">
                <a:solidFill>
                  <a:srgbClr val="000000"/>
                </a:solidFill>
                <a:latin typeface="Poppins Bold"/>
                <a:ea typeface="Poppins Bold"/>
                <a:cs typeface="Poppins Bold"/>
                <a:sym typeface="Poppins Bold"/>
              </a:rPr>
              <a:t>Further analysis was done on key service parameters such as sentiment, call duration and response time. The response time was not found to be a major issue, as most calls were handled within or below SLA, indicating timely responses.</a:t>
            </a:r>
          </a:p>
          <a:p>
            <a:pPr algn="l">
              <a:lnSpc>
                <a:spcPts val="4075"/>
              </a:lnSpc>
            </a:pPr>
            <a:r>
              <a:rPr lang="en-US" sz="2263" b="1">
                <a:solidFill>
                  <a:srgbClr val="000000"/>
                </a:solidFill>
                <a:latin typeface="Poppins Bold"/>
                <a:ea typeface="Poppins Bold"/>
                <a:cs typeface="Poppins Bold"/>
                <a:sym typeface="Poppins Bold"/>
              </a:rPr>
              <a:t>However, a closer look at customer sentiment revealed a higher proportion of negative and very negative sentiments, suggesting dissatisfaction. Additionally, the call duration was significantly longer, indicating that issues may be complex or not being resolved efficiently.</a:t>
            </a:r>
          </a:p>
          <a:p>
            <a:pPr algn="l">
              <a:lnSpc>
                <a:spcPts val="4075"/>
              </a:lnSpc>
            </a:pPr>
            <a:r>
              <a:rPr lang="en-US" sz="2263" b="1">
                <a:solidFill>
                  <a:srgbClr val="000000"/>
                </a:solidFill>
                <a:latin typeface="Poppins Bold"/>
                <a:ea typeface="Poppins Bold"/>
                <a:cs typeface="Poppins Bold"/>
                <a:sym typeface="Poppins Bold"/>
              </a:rPr>
              <a:t>These factors- higher negative sentiment and longer call durations- are likely contributing to the lower CSAT scores for the Kolkata call center.</a:t>
            </a:r>
          </a:p>
          <a:p>
            <a:pPr algn="l">
              <a:lnSpc>
                <a:spcPts val="4075"/>
              </a:lnSpc>
            </a:pPr>
            <a:endParaRPr lang="en-US" sz="2263" b="1">
              <a:solidFill>
                <a:srgbClr val="000000"/>
              </a:solidFill>
              <a:latin typeface="Poppins Bold"/>
              <a:ea typeface="Poppins Bold"/>
              <a:cs typeface="Poppins Bold"/>
              <a:sym typeface="Poppins Bold"/>
            </a:endParaRPr>
          </a:p>
        </p:txBody>
      </p:sp>
      <p:sp>
        <p:nvSpPr>
          <p:cNvPr id="8" name="TextBox 8"/>
          <p:cNvSpPr txBox="1"/>
          <p:nvPr/>
        </p:nvSpPr>
        <p:spPr>
          <a:xfrm>
            <a:off x="1028700" y="7037624"/>
            <a:ext cx="12613874" cy="3797358"/>
          </a:xfrm>
          <a:prstGeom prst="rect">
            <a:avLst/>
          </a:prstGeom>
        </p:spPr>
        <p:txBody>
          <a:bodyPr lIns="0" tIns="0" rIns="0" bIns="0" rtlCol="0" anchor="t">
            <a:spAutoFit/>
          </a:bodyPr>
          <a:lstStyle/>
          <a:p>
            <a:pPr algn="l">
              <a:lnSpc>
                <a:spcPts val="3178"/>
              </a:lnSpc>
            </a:pPr>
            <a:r>
              <a:rPr lang="en-US" sz="1765" b="1">
                <a:solidFill>
                  <a:srgbClr val="20AFB2"/>
                </a:solidFill>
                <a:latin typeface="Poppins Bold"/>
                <a:ea typeface="Poppins Bold"/>
                <a:cs typeface="Poppins Bold"/>
                <a:sym typeface="Poppins Bold"/>
              </a:rPr>
              <a:t>After identifying that the Kolkata call center has a lower CSAT score, it was observed that it receives a higher volume of calls from southern regions. This may be due to factors such as language barriers and inadequate agent training, leading to more negative customer sentiments. Additionally, longer call durations were observed, which may indicate inefficiencies in issue resolution.</a:t>
            </a:r>
          </a:p>
          <a:p>
            <a:pPr algn="l">
              <a:lnSpc>
                <a:spcPts val="3178"/>
              </a:lnSpc>
            </a:pPr>
            <a:r>
              <a:rPr lang="en-US" sz="1765" b="1">
                <a:solidFill>
                  <a:srgbClr val="20AFB2"/>
                </a:solidFill>
                <a:latin typeface="Poppins Bold"/>
                <a:ea typeface="Poppins Bold"/>
                <a:cs typeface="Poppins Bold"/>
                <a:sym typeface="Poppins Bold"/>
              </a:rPr>
              <a:t>However, is the call center solely responsible for the lower CSAT score, or are there other contributing factors, such as different service channels? Let’s explore this further.</a:t>
            </a:r>
          </a:p>
          <a:p>
            <a:pPr algn="l">
              <a:lnSpc>
                <a:spcPts val="2818"/>
              </a:lnSpc>
            </a:pPr>
            <a:endParaRPr lang="en-US" sz="1765" b="1">
              <a:solidFill>
                <a:srgbClr val="20AFB2"/>
              </a:solidFill>
              <a:latin typeface="Poppins Bold"/>
              <a:ea typeface="Poppins Bold"/>
              <a:cs typeface="Poppins Bold"/>
              <a:sym typeface="Poppins Bold"/>
            </a:endParaRPr>
          </a:p>
          <a:p>
            <a:pPr algn="l">
              <a:lnSpc>
                <a:spcPts val="2818"/>
              </a:lnSpc>
            </a:pPr>
            <a:endParaRPr lang="en-US" sz="1765" b="1">
              <a:solidFill>
                <a:srgbClr val="20AFB2"/>
              </a:solidFill>
              <a:latin typeface="Poppins Bold"/>
              <a:ea typeface="Poppins Bold"/>
              <a:cs typeface="Poppins Bold"/>
              <a:sym typeface="Poppins Bold"/>
            </a:endParaRPr>
          </a:p>
          <a:p>
            <a:pPr algn="l">
              <a:lnSpc>
                <a:spcPts val="2818"/>
              </a:lnSpc>
            </a:pPr>
            <a:endParaRPr lang="en-US" sz="1765" b="1">
              <a:solidFill>
                <a:srgbClr val="20AFB2"/>
              </a:solidFill>
              <a:latin typeface="Poppins Bold"/>
              <a:ea typeface="Poppins Bold"/>
              <a:cs typeface="Poppins Bold"/>
              <a:sym typeface="Poppins Bold"/>
            </a:endParaRPr>
          </a:p>
          <a:p>
            <a:pPr algn="l">
              <a:lnSpc>
                <a:spcPts val="2818"/>
              </a:lnSpc>
            </a:pPr>
            <a:endParaRPr lang="en-US" sz="1765" b="1">
              <a:solidFill>
                <a:srgbClr val="20AFB2"/>
              </a:solidFill>
              <a:latin typeface="Poppins Bold"/>
              <a:ea typeface="Poppins Bold"/>
              <a:cs typeface="Poppins Bold"/>
              <a:sym typeface="Poppi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90769" y="4315376"/>
            <a:ext cx="5145409" cy="4114800"/>
          </a:xfrm>
          <a:custGeom>
            <a:avLst/>
            <a:gdLst/>
            <a:ahLst/>
            <a:cxnLst/>
            <a:rect l="l" t="t" r="r" b="b"/>
            <a:pathLst>
              <a:path w="5145409" h="4114800">
                <a:moveTo>
                  <a:pt x="0" y="0"/>
                </a:moveTo>
                <a:lnTo>
                  <a:pt x="5145409" y="0"/>
                </a:lnTo>
                <a:lnTo>
                  <a:pt x="5145409"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432291" y="4315376"/>
            <a:ext cx="5113249" cy="1024167"/>
          </a:xfrm>
          <a:custGeom>
            <a:avLst/>
            <a:gdLst/>
            <a:ahLst/>
            <a:cxnLst/>
            <a:rect l="l" t="t" r="r" b="b"/>
            <a:pathLst>
              <a:path w="5113249" h="1024167">
                <a:moveTo>
                  <a:pt x="0" y="0"/>
                </a:moveTo>
                <a:lnTo>
                  <a:pt x="5113249" y="0"/>
                </a:lnTo>
                <a:lnTo>
                  <a:pt x="5113249" y="1024167"/>
                </a:lnTo>
                <a:lnTo>
                  <a:pt x="0" y="10241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7436178" y="7406009"/>
            <a:ext cx="5113249" cy="1024167"/>
          </a:xfrm>
          <a:custGeom>
            <a:avLst/>
            <a:gdLst/>
            <a:ahLst/>
            <a:cxnLst/>
            <a:rect l="l" t="t" r="r" b="b"/>
            <a:pathLst>
              <a:path w="5113249" h="1024167">
                <a:moveTo>
                  <a:pt x="0" y="0"/>
                </a:moveTo>
                <a:lnTo>
                  <a:pt x="5113249" y="0"/>
                </a:lnTo>
                <a:lnTo>
                  <a:pt x="5113249" y="1024167"/>
                </a:lnTo>
                <a:lnTo>
                  <a:pt x="0" y="10241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2549427" y="7406009"/>
            <a:ext cx="5113249" cy="1024167"/>
          </a:xfrm>
          <a:custGeom>
            <a:avLst/>
            <a:gdLst/>
            <a:ahLst/>
            <a:cxnLst/>
            <a:rect l="l" t="t" r="r" b="b"/>
            <a:pathLst>
              <a:path w="5113249" h="1024167">
                <a:moveTo>
                  <a:pt x="0" y="0"/>
                </a:moveTo>
                <a:lnTo>
                  <a:pt x="5113249" y="0"/>
                </a:lnTo>
                <a:lnTo>
                  <a:pt x="5113249" y="1024167"/>
                </a:lnTo>
                <a:lnTo>
                  <a:pt x="0" y="10241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7662676" y="7406009"/>
            <a:ext cx="5113249" cy="1024167"/>
          </a:xfrm>
          <a:custGeom>
            <a:avLst/>
            <a:gdLst/>
            <a:ahLst/>
            <a:cxnLst/>
            <a:rect l="l" t="t" r="r" b="b"/>
            <a:pathLst>
              <a:path w="5113249" h="1024167">
                <a:moveTo>
                  <a:pt x="0" y="0"/>
                </a:moveTo>
                <a:lnTo>
                  <a:pt x="5113249" y="0"/>
                </a:lnTo>
                <a:lnTo>
                  <a:pt x="5113249" y="1024167"/>
                </a:lnTo>
                <a:lnTo>
                  <a:pt x="0" y="10241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4216280" y="-129082"/>
            <a:ext cx="4034270" cy="3014700"/>
          </a:xfrm>
          <a:custGeom>
            <a:avLst/>
            <a:gdLst/>
            <a:ahLst/>
            <a:cxnLst/>
            <a:rect l="l" t="t" r="r" b="b"/>
            <a:pathLst>
              <a:path w="4034270" h="3014700">
                <a:moveTo>
                  <a:pt x="0" y="0"/>
                </a:moveTo>
                <a:lnTo>
                  <a:pt x="4034270" y="0"/>
                </a:lnTo>
                <a:lnTo>
                  <a:pt x="4034270" y="3014699"/>
                </a:lnTo>
                <a:lnTo>
                  <a:pt x="0" y="30146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rot="701560">
            <a:off x="820808" y="7350566"/>
            <a:ext cx="1322093" cy="1594629"/>
          </a:xfrm>
          <a:custGeom>
            <a:avLst/>
            <a:gdLst/>
            <a:ahLst/>
            <a:cxnLst/>
            <a:rect l="l" t="t" r="r" b="b"/>
            <a:pathLst>
              <a:path w="1322093" h="1594629">
                <a:moveTo>
                  <a:pt x="0" y="0"/>
                </a:moveTo>
                <a:lnTo>
                  <a:pt x="1322093" y="0"/>
                </a:lnTo>
                <a:lnTo>
                  <a:pt x="1322093" y="1594630"/>
                </a:lnTo>
                <a:lnTo>
                  <a:pt x="0" y="159463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rot="-2250332">
            <a:off x="17690417" y="118830"/>
            <a:ext cx="661046" cy="797315"/>
          </a:xfrm>
          <a:custGeom>
            <a:avLst/>
            <a:gdLst/>
            <a:ahLst/>
            <a:cxnLst/>
            <a:rect l="l" t="t" r="r" b="b"/>
            <a:pathLst>
              <a:path w="661046" h="797315">
                <a:moveTo>
                  <a:pt x="0" y="0"/>
                </a:moveTo>
                <a:lnTo>
                  <a:pt x="661046" y="0"/>
                </a:lnTo>
                <a:lnTo>
                  <a:pt x="661046" y="797315"/>
                </a:lnTo>
                <a:lnTo>
                  <a:pt x="0" y="797315"/>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701560">
            <a:off x="15691410" y="9180043"/>
            <a:ext cx="1322093" cy="1594629"/>
          </a:xfrm>
          <a:custGeom>
            <a:avLst/>
            <a:gdLst/>
            <a:ahLst/>
            <a:cxnLst/>
            <a:rect l="l" t="t" r="r" b="b"/>
            <a:pathLst>
              <a:path w="1322093" h="1594629">
                <a:moveTo>
                  <a:pt x="0" y="0"/>
                </a:moveTo>
                <a:lnTo>
                  <a:pt x="1322092" y="0"/>
                </a:lnTo>
                <a:lnTo>
                  <a:pt x="1322092" y="1594630"/>
                </a:lnTo>
                <a:lnTo>
                  <a:pt x="0" y="159463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rot="2279228">
            <a:off x="5364919" y="615530"/>
            <a:ext cx="550268" cy="663700"/>
          </a:xfrm>
          <a:custGeom>
            <a:avLst/>
            <a:gdLst/>
            <a:ahLst/>
            <a:cxnLst/>
            <a:rect l="l" t="t" r="r" b="b"/>
            <a:pathLst>
              <a:path w="550268" h="663700">
                <a:moveTo>
                  <a:pt x="0" y="0"/>
                </a:moveTo>
                <a:lnTo>
                  <a:pt x="550268" y="0"/>
                </a:lnTo>
                <a:lnTo>
                  <a:pt x="550268" y="663700"/>
                </a:lnTo>
                <a:lnTo>
                  <a:pt x="0" y="663700"/>
                </a:lnTo>
                <a:lnTo>
                  <a:pt x="0" y="0"/>
                </a:lnTo>
                <a:close/>
              </a:path>
            </a:pathLst>
          </a:custGeom>
          <a:blipFill>
            <a:blip>
              <a:alphaModFix amt="34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2" name="Freeform 12"/>
          <p:cNvSpPr/>
          <p:nvPr/>
        </p:nvSpPr>
        <p:spPr>
          <a:xfrm>
            <a:off x="1744538" y="3595930"/>
            <a:ext cx="1092462" cy="1092462"/>
          </a:xfrm>
          <a:custGeom>
            <a:avLst/>
            <a:gdLst/>
            <a:ahLst/>
            <a:cxnLst/>
            <a:rect l="l" t="t" r="r" b="b"/>
            <a:pathLst>
              <a:path w="1092462" h="1092462">
                <a:moveTo>
                  <a:pt x="0" y="0"/>
                </a:moveTo>
                <a:lnTo>
                  <a:pt x="1092462" y="0"/>
                </a:lnTo>
                <a:lnTo>
                  <a:pt x="1092462" y="1092462"/>
                </a:lnTo>
                <a:lnTo>
                  <a:pt x="0" y="10924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3" name="Freeform 13"/>
          <p:cNvSpPr/>
          <p:nvPr/>
        </p:nvSpPr>
        <p:spPr>
          <a:xfrm>
            <a:off x="7704530" y="6859778"/>
            <a:ext cx="1092462" cy="1092462"/>
          </a:xfrm>
          <a:custGeom>
            <a:avLst/>
            <a:gdLst/>
            <a:ahLst/>
            <a:cxnLst/>
            <a:rect l="l" t="t" r="r" b="b"/>
            <a:pathLst>
              <a:path w="1092462" h="1092462">
                <a:moveTo>
                  <a:pt x="0" y="0"/>
                </a:moveTo>
                <a:lnTo>
                  <a:pt x="1092462" y="0"/>
                </a:lnTo>
                <a:lnTo>
                  <a:pt x="1092462" y="1092462"/>
                </a:lnTo>
                <a:lnTo>
                  <a:pt x="0" y="10924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4" name="Freeform 14"/>
          <p:cNvSpPr/>
          <p:nvPr/>
        </p:nvSpPr>
        <p:spPr>
          <a:xfrm>
            <a:off x="14216280" y="6825630"/>
            <a:ext cx="1092462" cy="1092462"/>
          </a:xfrm>
          <a:custGeom>
            <a:avLst/>
            <a:gdLst/>
            <a:ahLst/>
            <a:cxnLst/>
            <a:rect l="l" t="t" r="r" b="b"/>
            <a:pathLst>
              <a:path w="1092462" h="1092462">
                <a:moveTo>
                  <a:pt x="0" y="0"/>
                </a:moveTo>
                <a:lnTo>
                  <a:pt x="1092462" y="0"/>
                </a:lnTo>
                <a:lnTo>
                  <a:pt x="1092462" y="1092462"/>
                </a:lnTo>
                <a:lnTo>
                  <a:pt x="0" y="10924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5" name="Freeform 15"/>
          <p:cNvSpPr/>
          <p:nvPr/>
        </p:nvSpPr>
        <p:spPr>
          <a:xfrm>
            <a:off x="0" y="0"/>
            <a:ext cx="7436178" cy="5989756"/>
          </a:xfrm>
          <a:custGeom>
            <a:avLst/>
            <a:gdLst/>
            <a:ahLst/>
            <a:cxnLst/>
            <a:rect l="l" t="t" r="r" b="b"/>
            <a:pathLst>
              <a:path w="7436178" h="5989756">
                <a:moveTo>
                  <a:pt x="0" y="0"/>
                </a:moveTo>
                <a:lnTo>
                  <a:pt x="7436178" y="0"/>
                </a:lnTo>
                <a:lnTo>
                  <a:pt x="7436178" y="5989756"/>
                </a:lnTo>
                <a:lnTo>
                  <a:pt x="0" y="5989756"/>
                </a:lnTo>
                <a:lnTo>
                  <a:pt x="0" y="0"/>
                </a:lnTo>
                <a:close/>
              </a:path>
            </a:pathLst>
          </a:custGeom>
          <a:blipFill>
            <a:blip r:embed="rId7"/>
            <a:stretch>
              <a:fillRect l="-8587" t="-2915" b="-2915"/>
            </a:stretch>
          </a:blipFill>
        </p:spPr>
        <p:txBody>
          <a:bodyPr/>
          <a:lstStyle/>
          <a:p>
            <a:endParaRPr lang="en-IN"/>
          </a:p>
        </p:txBody>
      </p:sp>
      <p:sp>
        <p:nvSpPr>
          <p:cNvPr id="16" name="Freeform 16"/>
          <p:cNvSpPr/>
          <p:nvPr/>
        </p:nvSpPr>
        <p:spPr>
          <a:xfrm>
            <a:off x="8908357" y="4552979"/>
            <a:ext cx="9379643" cy="5637764"/>
          </a:xfrm>
          <a:custGeom>
            <a:avLst/>
            <a:gdLst/>
            <a:ahLst/>
            <a:cxnLst/>
            <a:rect l="l" t="t" r="r" b="b"/>
            <a:pathLst>
              <a:path w="9379643" h="5637764">
                <a:moveTo>
                  <a:pt x="0" y="0"/>
                </a:moveTo>
                <a:lnTo>
                  <a:pt x="9379643" y="0"/>
                </a:lnTo>
                <a:lnTo>
                  <a:pt x="9379643" y="5637764"/>
                </a:lnTo>
                <a:lnTo>
                  <a:pt x="0" y="5637764"/>
                </a:lnTo>
                <a:lnTo>
                  <a:pt x="0" y="0"/>
                </a:lnTo>
                <a:close/>
              </a:path>
            </a:pathLst>
          </a:custGeom>
          <a:blipFill>
            <a:blip r:embed="rId8"/>
            <a:stretch>
              <a:fillRect/>
            </a:stretch>
          </a:blipFill>
        </p:spPr>
        <p:txBody>
          <a:bodyPr/>
          <a:lstStyle/>
          <a:p>
            <a:endParaRPr lang="en-IN"/>
          </a:p>
        </p:txBody>
      </p:sp>
      <p:sp>
        <p:nvSpPr>
          <p:cNvPr id="17" name="TextBox 17"/>
          <p:cNvSpPr txBox="1"/>
          <p:nvPr/>
        </p:nvSpPr>
        <p:spPr>
          <a:xfrm>
            <a:off x="9696549" y="73591"/>
            <a:ext cx="12613874" cy="1349434"/>
          </a:xfrm>
          <a:prstGeom prst="rect">
            <a:avLst/>
          </a:prstGeom>
        </p:spPr>
        <p:txBody>
          <a:bodyPr lIns="0" tIns="0" rIns="0" bIns="0" rtlCol="0" anchor="t">
            <a:spAutoFit/>
          </a:bodyPr>
          <a:lstStyle/>
          <a:p>
            <a:pPr algn="l">
              <a:lnSpc>
                <a:spcPts val="4978"/>
              </a:lnSpc>
            </a:pPr>
            <a:r>
              <a:rPr lang="en-US" sz="2765" b="1">
                <a:solidFill>
                  <a:srgbClr val="20AFB2"/>
                </a:solidFill>
                <a:latin typeface="Poppins Bold"/>
                <a:ea typeface="Poppins Bold"/>
                <a:cs typeface="Poppins Bold"/>
                <a:sym typeface="Poppins Bold"/>
              </a:rPr>
              <a:t>Channel Hypothesis</a:t>
            </a:r>
          </a:p>
          <a:p>
            <a:pPr algn="l">
              <a:lnSpc>
                <a:spcPts val="2818"/>
              </a:lnSpc>
            </a:pPr>
            <a:endParaRPr lang="en-US" sz="2765" b="1">
              <a:solidFill>
                <a:srgbClr val="20AFB2"/>
              </a:solidFill>
              <a:latin typeface="Poppins Bold"/>
              <a:ea typeface="Poppins Bold"/>
              <a:cs typeface="Poppins Bold"/>
              <a:sym typeface="Poppins Bold"/>
            </a:endParaRPr>
          </a:p>
          <a:p>
            <a:pPr algn="l">
              <a:lnSpc>
                <a:spcPts val="2818"/>
              </a:lnSpc>
            </a:pPr>
            <a:endParaRPr lang="en-US" sz="2765" b="1">
              <a:solidFill>
                <a:srgbClr val="20AFB2"/>
              </a:solidFill>
              <a:latin typeface="Poppins Bold"/>
              <a:ea typeface="Poppins Bold"/>
              <a:cs typeface="Poppins Bold"/>
              <a:sym typeface="Poppins Bold"/>
            </a:endParaRPr>
          </a:p>
        </p:txBody>
      </p:sp>
      <p:sp>
        <p:nvSpPr>
          <p:cNvPr id="18" name="TextBox 18"/>
          <p:cNvSpPr txBox="1"/>
          <p:nvPr/>
        </p:nvSpPr>
        <p:spPr>
          <a:xfrm>
            <a:off x="7436178" y="1021127"/>
            <a:ext cx="13513543" cy="1079020"/>
          </a:xfrm>
          <a:prstGeom prst="rect">
            <a:avLst/>
          </a:prstGeom>
        </p:spPr>
        <p:txBody>
          <a:bodyPr lIns="0" tIns="0" rIns="0" bIns="0" rtlCol="0" anchor="t">
            <a:spAutoFit/>
          </a:bodyPr>
          <a:lstStyle/>
          <a:p>
            <a:pPr algn="l">
              <a:lnSpc>
                <a:spcPts val="4369"/>
              </a:lnSpc>
            </a:pPr>
            <a:r>
              <a:rPr lang="en-US" sz="2427" b="1">
                <a:solidFill>
                  <a:srgbClr val="232529"/>
                </a:solidFill>
                <a:latin typeface="Poppins Bold"/>
                <a:ea typeface="Poppins Bold"/>
                <a:cs typeface="Poppins Bold"/>
                <a:sym typeface="Poppins Bold"/>
              </a:rPr>
              <a:t>Chatbot has received less CSAT score </a:t>
            </a:r>
          </a:p>
          <a:p>
            <a:pPr algn="l">
              <a:lnSpc>
                <a:spcPts val="4369"/>
              </a:lnSpc>
            </a:pPr>
            <a:r>
              <a:rPr lang="en-US" sz="2427" b="1">
                <a:solidFill>
                  <a:srgbClr val="232529"/>
                </a:solidFill>
                <a:latin typeface="Poppins Bold"/>
                <a:ea typeface="Poppins Bold"/>
                <a:cs typeface="Poppins Bold"/>
                <a:sym typeface="Poppins Bold"/>
              </a:rPr>
              <a:t>compared to other channels</a:t>
            </a:r>
          </a:p>
        </p:txBody>
      </p:sp>
      <p:sp>
        <p:nvSpPr>
          <p:cNvPr id="19" name="TextBox 19"/>
          <p:cNvSpPr txBox="1"/>
          <p:nvPr/>
        </p:nvSpPr>
        <p:spPr>
          <a:xfrm>
            <a:off x="448277" y="7541892"/>
            <a:ext cx="4415197" cy="5337815"/>
          </a:xfrm>
          <a:prstGeom prst="rect">
            <a:avLst/>
          </a:prstGeom>
        </p:spPr>
        <p:txBody>
          <a:bodyPr lIns="0" tIns="0" rIns="0" bIns="0" rtlCol="0" anchor="t">
            <a:spAutoFit/>
          </a:bodyPr>
          <a:lstStyle/>
          <a:p>
            <a:pPr algn="l">
              <a:lnSpc>
                <a:spcPts val="4206"/>
              </a:lnSpc>
            </a:pPr>
            <a:r>
              <a:rPr lang="en-US" sz="2336" b="1">
                <a:solidFill>
                  <a:srgbClr val="232529"/>
                </a:solidFill>
                <a:latin typeface="Poppins Bold"/>
                <a:ea typeface="Poppins Bold"/>
                <a:cs typeface="Poppins Bold"/>
                <a:sym typeface="Poppins Bold"/>
              </a:rPr>
              <a:t>The chatbot is receiving a higher volume of queries from customers in the South region compared to other regions.</a:t>
            </a:r>
          </a:p>
          <a:p>
            <a:pPr algn="l">
              <a:lnSpc>
                <a:spcPts val="4206"/>
              </a:lnSpc>
            </a:pPr>
            <a:endParaRPr lang="en-US" sz="2336" b="1">
              <a:solidFill>
                <a:srgbClr val="232529"/>
              </a:solidFill>
              <a:latin typeface="Poppins Bold"/>
              <a:ea typeface="Poppins Bold"/>
              <a:cs typeface="Poppins Bold"/>
              <a:sym typeface="Poppins Bold"/>
            </a:endParaRPr>
          </a:p>
          <a:p>
            <a:pPr algn="l">
              <a:lnSpc>
                <a:spcPts val="4206"/>
              </a:lnSpc>
            </a:pPr>
            <a:endParaRPr lang="en-US" sz="2336" b="1">
              <a:solidFill>
                <a:srgbClr val="232529"/>
              </a:solidFill>
              <a:latin typeface="Poppins Bold"/>
              <a:ea typeface="Poppins Bold"/>
              <a:cs typeface="Poppins Bold"/>
              <a:sym typeface="Poppins Bold"/>
            </a:endParaRPr>
          </a:p>
          <a:p>
            <a:pPr algn="l">
              <a:lnSpc>
                <a:spcPts val="4206"/>
              </a:lnSpc>
            </a:pPr>
            <a:endParaRPr lang="en-US" sz="2336" b="1">
              <a:solidFill>
                <a:srgbClr val="232529"/>
              </a:solidFill>
              <a:latin typeface="Poppins Bold"/>
              <a:ea typeface="Poppins Bold"/>
              <a:cs typeface="Poppins Bold"/>
              <a:sym typeface="Poppins Bold"/>
            </a:endParaRPr>
          </a:p>
          <a:p>
            <a:pPr algn="l">
              <a:lnSpc>
                <a:spcPts val="2056"/>
              </a:lnSpc>
            </a:pPr>
            <a:endParaRPr lang="en-US" sz="2336" b="1">
              <a:solidFill>
                <a:srgbClr val="232529"/>
              </a:solidFill>
              <a:latin typeface="Poppins Bold"/>
              <a:ea typeface="Poppins Bold"/>
              <a:cs typeface="Poppins Bold"/>
              <a:sym typeface="Poppins Bold"/>
            </a:endParaRPr>
          </a:p>
          <a:p>
            <a:pPr algn="l">
              <a:lnSpc>
                <a:spcPts val="2056"/>
              </a:lnSpc>
            </a:pPr>
            <a:endParaRPr lang="en-US" sz="2336" b="1">
              <a:solidFill>
                <a:srgbClr val="232529"/>
              </a:solidFill>
              <a:latin typeface="Poppins Bold"/>
              <a:ea typeface="Poppins Bold"/>
              <a:cs typeface="Poppins Bold"/>
              <a:sym typeface="Poppins Bold"/>
            </a:endParaRPr>
          </a:p>
          <a:p>
            <a:pPr algn="l">
              <a:lnSpc>
                <a:spcPts val="2056"/>
              </a:lnSpc>
            </a:pPr>
            <a:endParaRPr lang="en-US" sz="2336" b="1">
              <a:solidFill>
                <a:srgbClr val="232529"/>
              </a:solidFill>
              <a:latin typeface="Poppins Bold"/>
              <a:ea typeface="Poppins Bold"/>
              <a:cs typeface="Poppins Bold"/>
              <a:sym typeface="Poppins Bold"/>
            </a:endParaRPr>
          </a:p>
          <a:p>
            <a:pPr algn="l">
              <a:lnSpc>
                <a:spcPts val="2483"/>
              </a:lnSpc>
            </a:pPr>
            <a:endParaRPr lang="en-US" sz="2336" b="1">
              <a:solidFill>
                <a:srgbClr val="232529"/>
              </a:solidFill>
              <a:latin typeface="Poppins Bold"/>
              <a:ea typeface="Poppins Bold"/>
              <a:cs typeface="Poppins Bold"/>
              <a:sym typeface="Poppi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6683009" y="7387551"/>
            <a:ext cx="4921983" cy="985857"/>
          </a:xfrm>
          <a:custGeom>
            <a:avLst/>
            <a:gdLst/>
            <a:ahLst/>
            <a:cxnLst/>
            <a:rect l="l" t="t" r="r" b="b"/>
            <a:pathLst>
              <a:path w="4921983" h="985857">
                <a:moveTo>
                  <a:pt x="0" y="0"/>
                </a:moveTo>
                <a:lnTo>
                  <a:pt x="4921982" y="0"/>
                </a:lnTo>
                <a:lnTo>
                  <a:pt x="4921982"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400000">
            <a:off x="6683009" y="2448670"/>
            <a:ext cx="4921983" cy="985857"/>
          </a:xfrm>
          <a:custGeom>
            <a:avLst/>
            <a:gdLst/>
            <a:ahLst/>
            <a:cxnLst/>
            <a:rect l="l" t="t" r="r" b="b"/>
            <a:pathLst>
              <a:path w="4921983" h="985857">
                <a:moveTo>
                  <a:pt x="0" y="0"/>
                </a:moveTo>
                <a:lnTo>
                  <a:pt x="4921982" y="0"/>
                </a:lnTo>
                <a:lnTo>
                  <a:pt x="4921982"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6683009" y="-2509261"/>
            <a:ext cx="4921983" cy="985857"/>
          </a:xfrm>
          <a:custGeom>
            <a:avLst/>
            <a:gdLst/>
            <a:ahLst/>
            <a:cxnLst/>
            <a:rect l="l" t="t" r="r" b="b"/>
            <a:pathLst>
              <a:path w="4921983" h="985857">
                <a:moveTo>
                  <a:pt x="0" y="0"/>
                </a:moveTo>
                <a:lnTo>
                  <a:pt x="4921982" y="0"/>
                </a:lnTo>
                <a:lnTo>
                  <a:pt x="4921982" y="985858"/>
                </a:lnTo>
                <a:lnTo>
                  <a:pt x="0" y="9858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rot="701560">
            <a:off x="-432350" y="7915203"/>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2250332">
            <a:off x="15588414" y="751990"/>
            <a:ext cx="1322093" cy="1594629"/>
          </a:xfrm>
          <a:custGeom>
            <a:avLst/>
            <a:gdLst/>
            <a:ahLst/>
            <a:cxnLst/>
            <a:rect l="l" t="t" r="r" b="b"/>
            <a:pathLst>
              <a:path w="1322093" h="1594629">
                <a:moveTo>
                  <a:pt x="0" y="0"/>
                </a:moveTo>
                <a:lnTo>
                  <a:pt x="1322092" y="0"/>
                </a:lnTo>
                <a:lnTo>
                  <a:pt x="1322092" y="1594629"/>
                </a:lnTo>
                <a:lnTo>
                  <a:pt x="0" y="1594629"/>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701560">
            <a:off x="16397328" y="8829941"/>
            <a:ext cx="1322093" cy="1594629"/>
          </a:xfrm>
          <a:custGeom>
            <a:avLst/>
            <a:gdLst/>
            <a:ahLst/>
            <a:cxnLst/>
            <a:rect l="l" t="t" r="r" b="b"/>
            <a:pathLst>
              <a:path w="1322093" h="1594629">
                <a:moveTo>
                  <a:pt x="0" y="0"/>
                </a:moveTo>
                <a:lnTo>
                  <a:pt x="1322093" y="0"/>
                </a:lnTo>
                <a:lnTo>
                  <a:pt x="1322093" y="1594630"/>
                </a:lnTo>
                <a:lnTo>
                  <a:pt x="0" y="1594630"/>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2989715">
            <a:off x="6763605" y="8280776"/>
            <a:ext cx="678752" cy="818670"/>
          </a:xfrm>
          <a:custGeom>
            <a:avLst/>
            <a:gdLst/>
            <a:ahLst/>
            <a:cxnLst/>
            <a:rect l="l" t="t" r="r" b="b"/>
            <a:pathLst>
              <a:path w="678752" h="818670">
                <a:moveTo>
                  <a:pt x="0" y="0"/>
                </a:moveTo>
                <a:lnTo>
                  <a:pt x="678752" y="0"/>
                </a:lnTo>
                <a:lnTo>
                  <a:pt x="678752" y="818670"/>
                </a:lnTo>
                <a:lnTo>
                  <a:pt x="0" y="818670"/>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rot="2279228">
            <a:off x="3738781" y="3657456"/>
            <a:ext cx="654118" cy="788958"/>
          </a:xfrm>
          <a:custGeom>
            <a:avLst/>
            <a:gdLst/>
            <a:ahLst/>
            <a:cxnLst/>
            <a:rect l="l" t="t" r="r" b="b"/>
            <a:pathLst>
              <a:path w="654118" h="788958">
                <a:moveTo>
                  <a:pt x="0" y="0"/>
                </a:moveTo>
                <a:lnTo>
                  <a:pt x="654118" y="0"/>
                </a:lnTo>
                <a:lnTo>
                  <a:pt x="654118" y="788958"/>
                </a:lnTo>
                <a:lnTo>
                  <a:pt x="0" y="788958"/>
                </a:lnTo>
                <a:lnTo>
                  <a:pt x="0"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10282606" y="3678437"/>
            <a:ext cx="746995" cy="746995"/>
          </a:xfrm>
          <a:custGeom>
            <a:avLst/>
            <a:gdLst/>
            <a:ahLst/>
            <a:cxnLst/>
            <a:rect l="l" t="t" r="r" b="b"/>
            <a:pathLst>
              <a:path w="746995" h="746995">
                <a:moveTo>
                  <a:pt x="0" y="0"/>
                </a:moveTo>
                <a:lnTo>
                  <a:pt x="746995" y="0"/>
                </a:lnTo>
                <a:lnTo>
                  <a:pt x="746995" y="746996"/>
                </a:lnTo>
                <a:lnTo>
                  <a:pt x="0" y="7469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0282606" y="7880480"/>
            <a:ext cx="746995" cy="746995"/>
          </a:xfrm>
          <a:custGeom>
            <a:avLst/>
            <a:gdLst/>
            <a:ahLst/>
            <a:cxnLst/>
            <a:rect l="l" t="t" r="r" b="b"/>
            <a:pathLst>
              <a:path w="746995" h="746995">
                <a:moveTo>
                  <a:pt x="0" y="0"/>
                </a:moveTo>
                <a:lnTo>
                  <a:pt x="746995" y="0"/>
                </a:lnTo>
                <a:lnTo>
                  <a:pt x="746995" y="746995"/>
                </a:lnTo>
                <a:lnTo>
                  <a:pt x="0" y="7469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2" name="Freeform 12"/>
          <p:cNvSpPr/>
          <p:nvPr/>
        </p:nvSpPr>
        <p:spPr>
          <a:xfrm>
            <a:off x="7505571" y="5576651"/>
            <a:ext cx="746995" cy="746995"/>
          </a:xfrm>
          <a:custGeom>
            <a:avLst/>
            <a:gdLst/>
            <a:ahLst/>
            <a:cxnLst/>
            <a:rect l="l" t="t" r="r" b="b"/>
            <a:pathLst>
              <a:path w="746995" h="746995">
                <a:moveTo>
                  <a:pt x="0" y="0"/>
                </a:moveTo>
                <a:lnTo>
                  <a:pt x="746995" y="0"/>
                </a:lnTo>
                <a:lnTo>
                  <a:pt x="746995" y="746995"/>
                </a:lnTo>
                <a:lnTo>
                  <a:pt x="0" y="7469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Freeform 13"/>
          <p:cNvSpPr/>
          <p:nvPr/>
        </p:nvSpPr>
        <p:spPr>
          <a:xfrm>
            <a:off x="0" y="0"/>
            <a:ext cx="9636929" cy="5787290"/>
          </a:xfrm>
          <a:custGeom>
            <a:avLst/>
            <a:gdLst/>
            <a:ahLst/>
            <a:cxnLst/>
            <a:rect l="l" t="t" r="r" b="b"/>
            <a:pathLst>
              <a:path w="9636929" h="5787290">
                <a:moveTo>
                  <a:pt x="0" y="0"/>
                </a:moveTo>
                <a:lnTo>
                  <a:pt x="9636929" y="0"/>
                </a:lnTo>
                <a:lnTo>
                  <a:pt x="9636929" y="5787290"/>
                </a:lnTo>
                <a:lnTo>
                  <a:pt x="0" y="5787290"/>
                </a:lnTo>
                <a:lnTo>
                  <a:pt x="0" y="0"/>
                </a:lnTo>
                <a:close/>
              </a:path>
            </a:pathLst>
          </a:custGeom>
          <a:blipFill>
            <a:blip r:embed="rId5"/>
            <a:stretch>
              <a:fillRect/>
            </a:stretch>
          </a:blipFill>
        </p:spPr>
        <p:txBody>
          <a:bodyPr/>
          <a:lstStyle/>
          <a:p>
            <a:endParaRPr lang="en-IN"/>
          </a:p>
        </p:txBody>
      </p:sp>
      <p:sp>
        <p:nvSpPr>
          <p:cNvPr id="14" name="Freeform 14"/>
          <p:cNvSpPr/>
          <p:nvPr/>
        </p:nvSpPr>
        <p:spPr>
          <a:xfrm>
            <a:off x="9636929" y="5402590"/>
            <a:ext cx="8839574" cy="5440860"/>
          </a:xfrm>
          <a:custGeom>
            <a:avLst/>
            <a:gdLst/>
            <a:ahLst/>
            <a:cxnLst/>
            <a:rect l="l" t="t" r="r" b="b"/>
            <a:pathLst>
              <a:path w="8839574" h="5440860">
                <a:moveTo>
                  <a:pt x="0" y="0"/>
                </a:moveTo>
                <a:lnTo>
                  <a:pt x="8839573" y="0"/>
                </a:lnTo>
                <a:lnTo>
                  <a:pt x="8839573" y="5440860"/>
                </a:lnTo>
                <a:lnTo>
                  <a:pt x="0" y="5440860"/>
                </a:lnTo>
                <a:lnTo>
                  <a:pt x="0" y="0"/>
                </a:lnTo>
                <a:close/>
              </a:path>
            </a:pathLst>
          </a:custGeom>
          <a:blipFill>
            <a:blip r:embed="rId6"/>
            <a:stretch>
              <a:fillRect/>
            </a:stretch>
          </a:blipFill>
        </p:spPr>
        <p:txBody>
          <a:bodyPr/>
          <a:lstStyle/>
          <a:p>
            <a:endParaRPr lang="en-IN"/>
          </a:p>
        </p:txBody>
      </p:sp>
      <p:sp>
        <p:nvSpPr>
          <p:cNvPr id="15" name="TextBox 15"/>
          <p:cNvSpPr txBox="1"/>
          <p:nvPr/>
        </p:nvSpPr>
        <p:spPr>
          <a:xfrm>
            <a:off x="9934264" y="13954"/>
            <a:ext cx="7933025" cy="4411479"/>
          </a:xfrm>
          <a:prstGeom prst="rect">
            <a:avLst/>
          </a:prstGeom>
        </p:spPr>
        <p:txBody>
          <a:bodyPr lIns="0" tIns="0" rIns="0" bIns="0" rtlCol="0" anchor="t">
            <a:spAutoFit/>
          </a:bodyPr>
          <a:lstStyle/>
          <a:p>
            <a:pPr algn="l">
              <a:lnSpc>
                <a:spcPts val="3857"/>
              </a:lnSpc>
            </a:pPr>
            <a:r>
              <a:rPr lang="en-US" sz="2142" b="1">
                <a:solidFill>
                  <a:srgbClr val="232529"/>
                </a:solidFill>
                <a:latin typeface="Poppins Bold"/>
                <a:ea typeface="Poppins Bold"/>
                <a:cs typeface="Poppins Bold"/>
                <a:sym typeface="Poppins Bold"/>
              </a:rPr>
              <a:t>After identifying that the South region generates the highest number of customers, a further breakdown shows that Tamil Nadu, Andhra Pradesh, Telangana and Karnataka contribute the majority of these queries.</a:t>
            </a:r>
          </a:p>
          <a:p>
            <a:pPr algn="l">
              <a:lnSpc>
                <a:spcPts val="3857"/>
              </a:lnSpc>
            </a:pPr>
            <a:endParaRPr lang="en-US" sz="2142" b="1">
              <a:solidFill>
                <a:srgbClr val="232529"/>
              </a:solidFill>
              <a:latin typeface="Poppins Bold"/>
              <a:ea typeface="Poppins Bold"/>
              <a:cs typeface="Poppins Bold"/>
              <a:sym typeface="Poppins Bold"/>
            </a:endParaRPr>
          </a:p>
          <a:p>
            <a:pPr algn="l">
              <a:lnSpc>
                <a:spcPts val="3857"/>
              </a:lnSpc>
            </a:pPr>
            <a:endParaRPr lang="en-US" sz="2142" b="1">
              <a:solidFill>
                <a:srgbClr val="232529"/>
              </a:solidFill>
              <a:latin typeface="Poppins Bold"/>
              <a:ea typeface="Poppins Bold"/>
              <a:cs typeface="Poppins Bold"/>
              <a:sym typeface="Poppins Bold"/>
            </a:endParaRPr>
          </a:p>
          <a:p>
            <a:pPr algn="l">
              <a:lnSpc>
                <a:spcPts val="3857"/>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2277"/>
              </a:lnSpc>
            </a:pPr>
            <a:endParaRPr lang="en-US" sz="2142" b="1">
              <a:solidFill>
                <a:srgbClr val="232529"/>
              </a:solidFill>
              <a:latin typeface="Poppins Bold"/>
              <a:ea typeface="Poppins Bold"/>
              <a:cs typeface="Poppins Bold"/>
              <a:sym typeface="Poppins Bold"/>
            </a:endParaRPr>
          </a:p>
        </p:txBody>
      </p:sp>
      <p:sp>
        <p:nvSpPr>
          <p:cNvPr id="16" name="TextBox 16"/>
          <p:cNvSpPr txBox="1"/>
          <p:nvPr/>
        </p:nvSpPr>
        <p:spPr>
          <a:xfrm>
            <a:off x="718047" y="6448309"/>
            <a:ext cx="7933025" cy="4196407"/>
          </a:xfrm>
          <a:prstGeom prst="rect">
            <a:avLst/>
          </a:prstGeom>
        </p:spPr>
        <p:txBody>
          <a:bodyPr lIns="0" tIns="0" rIns="0" bIns="0" rtlCol="0" anchor="t">
            <a:spAutoFit/>
          </a:bodyPr>
          <a:lstStyle/>
          <a:p>
            <a:pPr algn="l">
              <a:lnSpc>
                <a:spcPts val="4217"/>
              </a:lnSpc>
            </a:pPr>
            <a:r>
              <a:rPr lang="en-US" sz="2342" b="1">
                <a:solidFill>
                  <a:srgbClr val="232529"/>
                </a:solidFill>
                <a:latin typeface="Poppins Bold"/>
                <a:ea typeface="Poppins Bold"/>
                <a:cs typeface="Poppins Bold"/>
                <a:sym typeface="Poppins Bold"/>
              </a:rPr>
              <a:t>Response time does not appear to be a major issue, as most of the calls are handled within or below the SLA.</a:t>
            </a:r>
          </a:p>
          <a:p>
            <a:pPr algn="l">
              <a:lnSpc>
                <a:spcPts val="4757"/>
              </a:lnSpc>
            </a:pPr>
            <a:endParaRPr lang="en-US" sz="2342" b="1">
              <a:solidFill>
                <a:srgbClr val="232529"/>
              </a:solidFill>
              <a:latin typeface="Poppins Bold"/>
              <a:ea typeface="Poppins Bold"/>
              <a:cs typeface="Poppins Bold"/>
              <a:sym typeface="Poppins Bold"/>
            </a:endParaRPr>
          </a:p>
          <a:p>
            <a:pPr algn="l">
              <a:lnSpc>
                <a:spcPts val="3857"/>
              </a:lnSpc>
            </a:pPr>
            <a:endParaRPr lang="en-US" sz="2342" b="1">
              <a:solidFill>
                <a:srgbClr val="232529"/>
              </a:solidFill>
              <a:latin typeface="Poppins Bold"/>
              <a:ea typeface="Poppins Bold"/>
              <a:cs typeface="Poppins Bold"/>
              <a:sym typeface="Poppins Bold"/>
            </a:endParaRPr>
          </a:p>
          <a:p>
            <a:pPr algn="l">
              <a:lnSpc>
                <a:spcPts val="3857"/>
              </a:lnSpc>
            </a:pPr>
            <a:endParaRPr lang="en-US" sz="2342" b="1">
              <a:solidFill>
                <a:srgbClr val="232529"/>
              </a:solidFill>
              <a:latin typeface="Poppins Bold"/>
              <a:ea typeface="Poppins Bold"/>
              <a:cs typeface="Poppins Bold"/>
              <a:sym typeface="Poppins Bold"/>
            </a:endParaRPr>
          </a:p>
          <a:p>
            <a:pPr algn="l">
              <a:lnSpc>
                <a:spcPts val="1886"/>
              </a:lnSpc>
            </a:pPr>
            <a:endParaRPr lang="en-US" sz="2342" b="1">
              <a:solidFill>
                <a:srgbClr val="232529"/>
              </a:solidFill>
              <a:latin typeface="Poppins Bold"/>
              <a:ea typeface="Poppins Bold"/>
              <a:cs typeface="Poppins Bold"/>
              <a:sym typeface="Poppins Bold"/>
            </a:endParaRPr>
          </a:p>
          <a:p>
            <a:pPr algn="l">
              <a:lnSpc>
                <a:spcPts val="1886"/>
              </a:lnSpc>
            </a:pPr>
            <a:endParaRPr lang="en-US" sz="2342" b="1">
              <a:solidFill>
                <a:srgbClr val="232529"/>
              </a:solidFill>
              <a:latin typeface="Poppins Bold"/>
              <a:ea typeface="Poppins Bold"/>
              <a:cs typeface="Poppins Bold"/>
              <a:sym typeface="Poppins Bold"/>
            </a:endParaRPr>
          </a:p>
          <a:p>
            <a:pPr algn="l">
              <a:lnSpc>
                <a:spcPts val="1886"/>
              </a:lnSpc>
            </a:pPr>
            <a:endParaRPr lang="en-US" sz="2342" b="1">
              <a:solidFill>
                <a:srgbClr val="232529"/>
              </a:solidFill>
              <a:latin typeface="Poppins Bold"/>
              <a:ea typeface="Poppins Bold"/>
              <a:cs typeface="Poppins Bold"/>
              <a:sym typeface="Poppins Bold"/>
            </a:endParaRPr>
          </a:p>
          <a:p>
            <a:pPr algn="l">
              <a:lnSpc>
                <a:spcPts val="2277"/>
              </a:lnSpc>
            </a:pPr>
            <a:endParaRPr lang="en-US" sz="2342" b="1">
              <a:solidFill>
                <a:srgbClr val="232529"/>
              </a:solidFill>
              <a:latin typeface="Poppins Bold"/>
              <a:ea typeface="Poppins Bold"/>
              <a:cs typeface="Poppins Bold"/>
              <a:sym typeface="Poppi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603970" cy="5637764"/>
          </a:xfrm>
          <a:custGeom>
            <a:avLst/>
            <a:gdLst/>
            <a:ahLst/>
            <a:cxnLst/>
            <a:rect l="l" t="t" r="r" b="b"/>
            <a:pathLst>
              <a:path w="9603970" h="5637764">
                <a:moveTo>
                  <a:pt x="0" y="0"/>
                </a:moveTo>
                <a:lnTo>
                  <a:pt x="9603970" y="0"/>
                </a:lnTo>
                <a:lnTo>
                  <a:pt x="9603970" y="5637764"/>
                </a:lnTo>
                <a:lnTo>
                  <a:pt x="0" y="5637764"/>
                </a:lnTo>
                <a:lnTo>
                  <a:pt x="0" y="0"/>
                </a:lnTo>
                <a:close/>
              </a:path>
            </a:pathLst>
          </a:custGeom>
          <a:blipFill>
            <a:blip r:embed="rId2"/>
            <a:stretch>
              <a:fillRect t="-1195" b="-1195"/>
            </a:stretch>
          </a:blipFill>
        </p:spPr>
        <p:txBody>
          <a:bodyPr/>
          <a:lstStyle/>
          <a:p>
            <a:endParaRPr lang="en-IN"/>
          </a:p>
        </p:txBody>
      </p:sp>
      <p:sp>
        <p:nvSpPr>
          <p:cNvPr id="3" name="TextBox 3"/>
          <p:cNvSpPr txBox="1"/>
          <p:nvPr/>
        </p:nvSpPr>
        <p:spPr>
          <a:xfrm>
            <a:off x="10062451" y="1712702"/>
            <a:ext cx="7933025" cy="3925062"/>
          </a:xfrm>
          <a:prstGeom prst="rect">
            <a:avLst/>
          </a:prstGeom>
        </p:spPr>
        <p:txBody>
          <a:bodyPr lIns="0" tIns="0" rIns="0" bIns="0" rtlCol="0" anchor="t">
            <a:spAutoFit/>
          </a:bodyPr>
          <a:lstStyle/>
          <a:p>
            <a:pPr algn="l">
              <a:lnSpc>
                <a:spcPts val="3857"/>
              </a:lnSpc>
            </a:pPr>
            <a:r>
              <a:rPr lang="en-US" sz="2142" b="1">
                <a:solidFill>
                  <a:srgbClr val="232529"/>
                </a:solidFill>
                <a:latin typeface="Poppins Bold"/>
                <a:ea typeface="Poppins Bold"/>
                <a:cs typeface="Poppins Bold"/>
                <a:sym typeface="Poppins Bold"/>
              </a:rPr>
              <a:t>A significant proportion of customer interactions show negative and very negative sentiments, indicating dissatisfaction with the service experience.</a:t>
            </a:r>
          </a:p>
          <a:p>
            <a:pPr algn="l">
              <a:lnSpc>
                <a:spcPts val="3857"/>
              </a:lnSpc>
            </a:pPr>
            <a:endParaRPr lang="en-US" sz="2142" b="1">
              <a:solidFill>
                <a:srgbClr val="232529"/>
              </a:solidFill>
              <a:latin typeface="Poppins Bold"/>
              <a:ea typeface="Poppins Bold"/>
              <a:cs typeface="Poppins Bold"/>
              <a:sym typeface="Poppins Bold"/>
            </a:endParaRPr>
          </a:p>
          <a:p>
            <a:pPr algn="l">
              <a:lnSpc>
                <a:spcPts val="3857"/>
              </a:lnSpc>
            </a:pPr>
            <a:endParaRPr lang="en-US" sz="2142" b="1">
              <a:solidFill>
                <a:srgbClr val="232529"/>
              </a:solidFill>
              <a:latin typeface="Poppins Bold"/>
              <a:ea typeface="Poppins Bold"/>
              <a:cs typeface="Poppins Bold"/>
              <a:sym typeface="Poppins Bold"/>
            </a:endParaRPr>
          </a:p>
          <a:p>
            <a:pPr algn="l">
              <a:lnSpc>
                <a:spcPts val="3857"/>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1886"/>
              </a:lnSpc>
            </a:pPr>
            <a:endParaRPr lang="en-US" sz="2142" b="1">
              <a:solidFill>
                <a:srgbClr val="232529"/>
              </a:solidFill>
              <a:latin typeface="Poppins Bold"/>
              <a:ea typeface="Poppins Bold"/>
              <a:cs typeface="Poppins Bold"/>
              <a:sym typeface="Poppins Bold"/>
            </a:endParaRPr>
          </a:p>
          <a:p>
            <a:pPr algn="l">
              <a:lnSpc>
                <a:spcPts val="2277"/>
              </a:lnSpc>
            </a:pPr>
            <a:endParaRPr lang="en-US" sz="2142" b="1">
              <a:solidFill>
                <a:srgbClr val="232529"/>
              </a:solidFill>
              <a:latin typeface="Poppins Bold"/>
              <a:ea typeface="Poppins Bold"/>
              <a:cs typeface="Poppins Bold"/>
              <a:sym typeface="Poppins Bold"/>
            </a:endParaRPr>
          </a:p>
        </p:txBody>
      </p:sp>
      <p:sp>
        <p:nvSpPr>
          <p:cNvPr id="4" name="TextBox 4"/>
          <p:cNvSpPr txBox="1"/>
          <p:nvPr/>
        </p:nvSpPr>
        <p:spPr>
          <a:xfrm>
            <a:off x="1028700" y="6154010"/>
            <a:ext cx="15207632" cy="3676342"/>
          </a:xfrm>
          <a:prstGeom prst="rect">
            <a:avLst/>
          </a:prstGeom>
        </p:spPr>
        <p:txBody>
          <a:bodyPr lIns="0" tIns="0" rIns="0" bIns="0" rtlCol="0" anchor="t">
            <a:spAutoFit/>
          </a:bodyPr>
          <a:lstStyle/>
          <a:p>
            <a:pPr algn="l">
              <a:lnSpc>
                <a:spcPts val="4397"/>
              </a:lnSpc>
            </a:pPr>
            <a:r>
              <a:rPr lang="en-US" sz="2442" b="1">
                <a:solidFill>
                  <a:srgbClr val="007F85"/>
                </a:solidFill>
                <a:latin typeface="Poppins Bold"/>
                <a:ea typeface="Poppins Bold"/>
                <a:cs typeface="Poppins Bold"/>
                <a:sym typeface="Poppins Bold"/>
              </a:rPr>
              <a:t>Customers from the southern region appear to be less satisfied with the chatbot experience. This is evident from the higher volume of queries originating from states like Tamil Nadu, Andhra Pradesh, Telangana, and Karnataka, combined with a noticeable increase in negative sentiment. Despite response times largely being within or below SLA, the dissatisfaction suggests that the chatbot may not be effectively resolving customer issues, leading to frustration and repeat interactions.</a:t>
            </a:r>
          </a:p>
          <a:p>
            <a:pPr algn="l">
              <a:lnSpc>
                <a:spcPts val="2817"/>
              </a:lnSpc>
            </a:pPr>
            <a:endParaRPr lang="en-US" sz="2442" b="1">
              <a:solidFill>
                <a:srgbClr val="007F85"/>
              </a:solidFill>
              <a:latin typeface="Poppins Bold"/>
              <a:ea typeface="Poppins Bold"/>
              <a:cs typeface="Poppins Bold"/>
              <a:sym typeface="Poppi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817279"/>
            <a:ext cx="5145409" cy="4114800"/>
          </a:xfrm>
          <a:custGeom>
            <a:avLst/>
            <a:gdLst/>
            <a:ahLst/>
            <a:cxnLst/>
            <a:rect l="l" t="t" r="r" b="b"/>
            <a:pathLst>
              <a:path w="5145409" h="4114800">
                <a:moveTo>
                  <a:pt x="0" y="0"/>
                </a:moveTo>
                <a:lnTo>
                  <a:pt x="5145409" y="0"/>
                </a:lnTo>
                <a:lnTo>
                  <a:pt x="5145409"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400000">
            <a:off x="4454714" y="7655552"/>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5400000">
            <a:off x="4454714" y="2743094"/>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5400000">
            <a:off x="4454714" y="-2169364"/>
            <a:ext cx="4921983" cy="985857"/>
          </a:xfrm>
          <a:custGeom>
            <a:avLst/>
            <a:gdLst/>
            <a:ahLst/>
            <a:cxnLst/>
            <a:rect l="l" t="t" r="r" b="b"/>
            <a:pathLst>
              <a:path w="4921983" h="985857">
                <a:moveTo>
                  <a:pt x="0" y="0"/>
                </a:moveTo>
                <a:lnTo>
                  <a:pt x="4921983" y="0"/>
                </a:lnTo>
                <a:lnTo>
                  <a:pt x="4921983" y="985857"/>
                </a:lnTo>
                <a:lnTo>
                  <a:pt x="0" y="9858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9296485" y="4319002"/>
            <a:ext cx="5851888" cy="5373097"/>
          </a:xfrm>
          <a:custGeom>
            <a:avLst/>
            <a:gdLst/>
            <a:ahLst/>
            <a:cxnLst/>
            <a:rect l="l" t="t" r="r" b="b"/>
            <a:pathLst>
              <a:path w="5851888" h="5373097">
                <a:moveTo>
                  <a:pt x="0" y="0"/>
                </a:moveTo>
                <a:lnTo>
                  <a:pt x="5851888" y="0"/>
                </a:lnTo>
                <a:lnTo>
                  <a:pt x="5851888" y="5373097"/>
                </a:lnTo>
                <a:lnTo>
                  <a:pt x="0" y="53730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flipH="1">
            <a:off x="5728236" y="940993"/>
            <a:ext cx="694540" cy="489740"/>
          </a:xfrm>
          <a:custGeom>
            <a:avLst/>
            <a:gdLst/>
            <a:ahLst/>
            <a:cxnLst/>
            <a:rect l="l" t="t" r="r" b="b"/>
            <a:pathLst>
              <a:path w="694540" h="489740">
                <a:moveTo>
                  <a:pt x="694541" y="0"/>
                </a:moveTo>
                <a:lnTo>
                  <a:pt x="0" y="0"/>
                </a:lnTo>
                <a:lnTo>
                  <a:pt x="0" y="489739"/>
                </a:lnTo>
                <a:lnTo>
                  <a:pt x="694541" y="489739"/>
                </a:lnTo>
                <a:lnTo>
                  <a:pt x="69454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TextBox 8"/>
          <p:cNvSpPr txBox="1"/>
          <p:nvPr/>
        </p:nvSpPr>
        <p:spPr>
          <a:xfrm>
            <a:off x="8919673" y="306746"/>
            <a:ext cx="7734635" cy="3800475"/>
          </a:xfrm>
          <a:prstGeom prst="rect">
            <a:avLst/>
          </a:prstGeom>
        </p:spPr>
        <p:txBody>
          <a:bodyPr lIns="0" tIns="0" rIns="0" bIns="0" rtlCol="0" anchor="t">
            <a:spAutoFit/>
          </a:bodyPr>
          <a:lstStyle/>
          <a:p>
            <a:pPr algn="l">
              <a:lnSpc>
                <a:spcPts val="5999"/>
              </a:lnSpc>
            </a:pPr>
            <a:r>
              <a:rPr lang="en-US" sz="4999" b="1">
                <a:solidFill>
                  <a:srgbClr val="1C1C1C"/>
                </a:solidFill>
                <a:latin typeface="Poppins Bold"/>
                <a:ea typeface="Poppins Bold"/>
                <a:cs typeface="Poppins Bold"/>
                <a:sym typeface="Poppins Bold"/>
              </a:rPr>
              <a:t>Key Solutions to reduce negative sentiments and increase csat scores for both call center and chatbot</a:t>
            </a:r>
          </a:p>
        </p:txBody>
      </p:sp>
      <p:sp>
        <p:nvSpPr>
          <p:cNvPr id="9" name="TextBox 9"/>
          <p:cNvSpPr txBox="1"/>
          <p:nvPr/>
        </p:nvSpPr>
        <p:spPr>
          <a:xfrm>
            <a:off x="16329" y="5443"/>
            <a:ext cx="6611379" cy="10663817"/>
          </a:xfrm>
          <a:prstGeom prst="rect">
            <a:avLst/>
          </a:prstGeom>
        </p:spPr>
        <p:txBody>
          <a:bodyPr lIns="0" tIns="0" rIns="0" bIns="0" rtlCol="0" anchor="t">
            <a:spAutoFit/>
          </a:bodyPr>
          <a:lstStyle/>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Multilingual Support:</a:t>
            </a:r>
          </a:p>
          <a:p>
            <a:pPr marL="233351" lvl="1" algn="l">
              <a:lnSpc>
                <a:spcPts val="2593"/>
              </a:lnSpc>
            </a:pPr>
            <a:r>
              <a:rPr lang="en-US" sz="2161" b="1" dirty="0">
                <a:solidFill>
                  <a:srgbClr val="414141"/>
                </a:solidFill>
                <a:latin typeface="Poppins Bold"/>
                <a:ea typeface="Poppins Bold"/>
                <a:cs typeface="Poppins Bold"/>
                <a:sym typeface="Poppins Bold"/>
              </a:rPr>
              <a:t>Provide support in regional languages (Tamil, Telugu, Kannada) and route queries to region-specific agents to reduce language barriers and improve customer experience.</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Improve Chatbot:</a:t>
            </a:r>
            <a:br>
              <a:rPr lang="en-US" sz="2161" b="1" dirty="0">
                <a:solidFill>
                  <a:srgbClr val="414141"/>
                </a:solidFill>
                <a:latin typeface="Poppins Bold"/>
                <a:ea typeface="Poppins Bold"/>
                <a:cs typeface="Poppins Bold"/>
                <a:sym typeface="Poppins Bold"/>
              </a:rPr>
            </a:br>
            <a:r>
              <a:rPr lang="en-US" sz="2161" b="1" dirty="0">
                <a:solidFill>
                  <a:srgbClr val="414141"/>
                </a:solidFill>
                <a:latin typeface="Poppins Bold"/>
                <a:ea typeface="Poppins Bold"/>
                <a:cs typeface="Poppins Bold"/>
                <a:sym typeface="Poppins Bold"/>
              </a:rPr>
              <a:t>Train the chatbot on region-specific queries and enable quick transfer to a human agent when needed to avoid customer frustration.</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Reduce Call Duration:</a:t>
            </a:r>
          </a:p>
          <a:p>
            <a:pPr marL="233351" lvl="1" algn="l">
              <a:lnSpc>
                <a:spcPts val="2593"/>
              </a:lnSpc>
            </a:pPr>
            <a:r>
              <a:rPr lang="en-US" sz="2161" b="1" dirty="0">
                <a:solidFill>
                  <a:srgbClr val="414141"/>
                </a:solidFill>
                <a:latin typeface="Poppins Bold"/>
                <a:ea typeface="Poppins Bold"/>
                <a:cs typeface="Poppins Bold"/>
                <a:sym typeface="Poppins Bold"/>
              </a:rPr>
              <a:t> Focus on faster and effective issue resolution through better scripts, tools, and emphasis on first call resolution (FCR).</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Agent Training:</a:t>
            </a:r>
          </a:p>
          <a:p>
            <a:pPr marL="233351" lvl="1" algn="l">
              <a:lnSpc>
                <a:spcPts val="2593"/>
              </a:lnSpc>
            </a:pPr>
            <a:r>
              <a:rPr lang="en-US" sz="2161" b="1" dirty="0">
                <a:solidFill>
                  <a:srgbClr val="414141"/>
                </a:solidFill>
                <a:latin typeface="Poppins Bold"/>
                <a:ea typeface="Poppins Bold"/>
                <a:cs typeface="Poppins Bold"/>
                <a:sym typeface="Poppins Bold"/>
              </a:rPr>
              <a:t>Train agents on communication, empathy, and handling difficult customers to improve overall interaction quality.</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Fix Common Issues:</a:t>
            </a:r>
          </a:p>
          <a:p>
            <a:pPr marL="233351" lvl="1" algn="l">
              <a:lnSpc>
                <a:spcPts val="2593"/>
              </a:lnSpc>
            </a:pPr>
            <a:r>
              <a:rPr lang="en-US" sz="2161" b="1" dirty="0">
                <a:solidFill>
                  <a:srgbClr val="414141"/>
                </a:solidFill>
                <a:latin typeface="Poppins Bold"/>
                <a:ea typeface="Poppins Bold"/>
                <a:cs typeface="Poppins Bold"/>
                <a:sym typeface="Poppins Bold"/>
              </a:rPr>
              <a:t>Identify frequent problems like billing or payments and create standardized solutions to reduce repeat calls.</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Smart Call Routing:</a:t>
            </a:r>
          </a:p>
          <a:p>
            <a:pPr marL="233351" lvl="1" algn="l">
              <a:lnSpc>
                <a:spcPts val="2593"/>
              </a:lnSpc>
            </a:pPr>
            <a:r>
              <a:rPr lang="en-US" sz="2161" b="1" dirty="0">
                <a:solidFill>
                  <a:srgbClr val="414141"/>
                </a:solidFill>
                <a:latin typeface="Poppins Bold"/>
                <a:ea typeface="Poppins Bold"/>
                <a:cs typeface="Poppins Bold"/>
                <a:sym typeface="Poppins Bold"/>
              </a:rPr>
              <a:t>Route calls based on language, region, and issue type to ensure the right agent handles the query.</a:t>
            </a:r>
          </a:p>
          <a:p>
            <a:pPr marL="466703" lvl="1" indent="-233352" algn="l">
              <a:lnSpc>
                <a:spcPts val="2593"/>
              </a:lnSpc>
              <a:buFont typeface="Arial"/>
              <a:buChar char="•"/>
            </a:pPr>
            <a:r>
              <a:rPr lang="en-US" sz="2161" b="1" dirty="0">
                <a:solidFill>
                  <a:srgbClr val="414141"/>
                </a:solidFill>
                <a:latin typeface="Poppins Bold"/>
                <a:ea typeface="Poppins Bold"/>
                <a:cs typeface="Poppins Bold"/>
                <a:sym typeface="Poppins Bold"/>
              </a:rPr>
              <a:t>Monitor Sentiment:</a:t>
            </a:r>
          </a:p>
          <a:p>
            <a:pPr marL="233351" lvl="1" algn="l">
              <a:lnSpc>
                <a:spcPts val="2593"/>
              </a:lnSpc>
            </a:pPr>
            <a:r>
              <a:rPr lang="en-US" sz="2161" b="1" dirty="0">
                <a:solidFill>
                  <a:srgbClr val="414141"/>
                </a:solidFill>
                <a:latin typeface="Poppins Bold"/>
                <a:ea typeface="Poppins Bold"/>
                <a:cs typeface="Poppins Bold"/>
                <a:sym typeface="Poppins Bold"/>
              </a:rPr>
              <a:t> Track negative sentiment and take immediate action (like escalation or feedback loops) to improve service quality.</a:t>
            </a:r>
          </a:p>
          <a:p>
            <a:pPr algn="l">
              <a:lnSpc>
                <a:spcPts val="2593"/>
              </a:lnSpc>
            </a:pPr>
            <a:endParaRPr lang="en-US" sz="2161" b="1" dirty="0">
              <a:solidFill>
                <a:srgbClr val="414141"/>
              </a:solidFill>
              <a:latin typeface="Poppins Bold"/>
              <a:ea typeface="Poppins Bold"/>
              <a:cs typeface="Poppins Bold"/>
              <a:sym typeface="Poppins Bold"/>
            </a:endParaRPr>
          </a:p>
        </p:txBody>
      </p:sp>
      <p:sp>
        <p:nvSpPr>
          <p:cNvPr id="10" name="Freeform 10"/>
          <p:cNvSpPr/>
          <p:nvPr/>
        </p:nvSpPr>
        <p:spPr>
          <a:xfrm flipH="1">
            <a:off x="5728236" y="2906086"/>
            <a:ext cx="694540" cy="489740"/>
          </a:xfrm>
          <a:custGeom>
            <a:avLst/>
            <a:gdLst/>
            <a:ahLst/>
            <a:cxnLst/>
            <a:rect l="l" t="t" r="r" b="b"/>
            <a:pathLst>
              <a:path w="694540" h="489740">
                <a:moveTo>
                  <a:pt x="694541" y="0"/>
                </a:moveTo>
                <a:lnTo>
                  <a:pt x="0" y="0"/>
                </a:lnTo>
                <a:lnTo>
                  <a:pt x="0" y="489740"/>
                </a:lnTo>
                <a:lnTo>
                  <a:pt x="694541" y="489740"/>
                </a:lnTo>
                <a:lnTo>
                  <a:pt x="69454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flipH="1">
            <a:off x="5728236" y="5028282"/>
            <a:ext cx="694540" cy="489740"/>
          </a:xfrm>
          <a:custGeom>
            <a:avLst/>
            <a:gdLst/>
            <a:ahLst/>
            <a:cxnLst/>
            <a:rect l="l" t="t" r="r" b="b"/>
            <a:pathLst>
              <a:path w="694540" h="489740">
                <a:moveTo>
                  <a:pt x="694541" y="0"/>
                </a:moveTo>
                <a:lnTo>
                  <a:pt x="0" y="0"/>
                </a:lnTo>
                <a:lnTo>
                  <a:pt x="0" y="489740"/>
                </a:lnTo>
                <a:lnTo>
                  <a:pt x="694541" y="489740"/>
                </a:lnTo>
                <a:lnTo>
                  <a:pt x="69454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2" name="Freeform 12"/>
          <p:cNvSpPr/>
          <p:nvPr/>
        </p:nvSpPr>
        <p:spPr>
          <a:xfrm rot="701560">
            <a:off x="17149468" y="3353447"/>
            <a:ext cx="1322093" cy="1594629"/>
          </a:xfrm>
          <a:custGeom>
            <a:avLst/>
            <a:gdLst/>
            <a:ahLst/>
            <a:cxnLst/>
            <a:rect l="l" t="t" r="r" b="b"/>
            <a:pathLst>
              <a:path w="1322093" h="1594629">
                <a:moveTo>
                  <a:pt x="0" y="0"/>
                </a:moveTo>
                <a:lnTo>
                  <a:pt x="1322093" y="0"/>
                </a:lnTo>
                <a:lnTo>
                  <a:pt x="1322093" y="1594629"/>
                </a:lnTo>
                <a:lnTo>
                  <a:pt x="0" y="1594629"/>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3" name="Freeform 13"/>
          <p:cNvSpPr/>
          <p:nvPr/>
        </p:nvSpPr>
        <p:spPr>
          <a:xfrm rot="701560">
            <a:off x="16551147" y="9120364"/>
            <a:ext cx="900907" cy="1086621"/>
          </a:xfrm>
          <a:custGeom>
            <a:avLst/>
            <a:gdLst/>
            <a:ahLst/>
            <a:cxnLst/>
            <a:rect l="l" t="t" r="r" b="b"/>
            <a:pathLst>
              <a:path w="900907" h="1086621">
                <a:moveTo>
                  <a:pt x="0" y="0"/>
                </a:moveTo>
                <a:lnTo>
                  <a:pt x="900907" y="0"/>
                </a:lnTo>
                <a:lnTo>
                  <a:pt x="900907" y="1086620"/>
                </a:lnTo>
                <a:lnTo>
                  <a:pt x="0" y="1086620"/>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4" name="Freeform 14"/>
          <p:cNvSpPr/>
          <p:nvPr/>
        </p:nvSpPr>
        <p:spPr>
          <a:xfrm rot="2279228">
            <a:off x="4515392" y="8430963"/>
            <a:ext cx="654118" cy="788958"/>
          </a:xfrm>
          <a:custGeom>
            <a:avLst/>
            <a:gdLst/>
            <a:ahLst/>
            <a:cxnLst/>
            <a:rect l="l" t="t" r="r" b="b"/>
            <a:pathLst>
              <a:path w="654118" h="788958">
                <a:moveTo>
                  <a:pt x="0" y="0"/>
                </a:moveTo>
                <a:lnTo>
                  <a:pt x="654118" y="0"/>
                </a:lnTo>
                <a:lnTo>
                  <a:pt x="654118" y="788958"/>
                </a:lnTo>
                <a:lnTo>
                  <a:pt x="0" y="788958"/>
                </a:lnTo>
                <a:lnTo>
                  <a:pt x="0" y="0"/>
                </a:lnTo>
                <a:close/>
              </a:path>
            </a:pathLst>
          </a:custGeom>
          <a:blipFill>
            <a:blip>
              <a:alphaModFix amt="34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5" name="Rectangle: Rounded Corners 14">
            <a:extLst>
              <a:ext uri="{FF2B5EF4-FFF2-40B4-BE49-F238E27FC236}">
                <a16:creationId xmlns:a16="http://schemas.microsoft.com/office/drawing/2014/main" id="{8CD8E5E0-9E94-1FC4-A2C1-3D9269191FE8}"/>
              </a:ext>
            </a:extLst>
          </p:cNvPr>
          <p:cNvSpPr/>
          <p:nvPr/>
        </p:nvSpPr>
        <p:spPr>
          <a:xfrm>
            <a:off x="15372114" y="9040348"/>
            <a:ext cx="2438400" cy="113985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2800" b="1" dirty="0"/>
              <a:t>PRAGATI BAID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1068</Words>
  <Application>Microsoft Office PowerPoint</Application>
  <PresentationFormat>Custom</PresentationFormat>
  <Paragraphs>97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Poppins Light</vt:lpstr>
      <vt:lpstr>Arial</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Red and White Modern E-commerce Roadmap Presentation</dc:title>
  <dc:creator>Admin</dc:creator>
  <cp:lastModifiedBy>Pragati Baid</cp:lastModifiedBy>
  <cp:revision>2</cp:revision>
  <dcterms:created xsi:type="dcterms:W3CDTF">2006-08-16T00:00:00Z</dcterms:created>
  <dcterms:modified xsi:type="dcterms:W3CDTF">2026-04-20T17:12:43Z</dcterms:modified>
  <dc:identifier>DAHHaAU-_Nc</dc:identifier>
</cp:coreProperties>
</file>